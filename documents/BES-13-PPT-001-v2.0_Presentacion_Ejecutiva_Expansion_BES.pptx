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719e6004548eb" /><Relationship Type="http://schemas.openxmlformats.org/officeDocument/2006/relationships/extended-properties" Target="/docProps/app.xml" Id="R372b3b63cd644ea3" /><Relationship Type="http://schemas.openxmlformats.org/officeDocument/2006/relationships/officeDocument" Target="/ppt/presentation.xml" Id="Rc5c9b37f35b048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3e32ac9234d2a"/>
  </p:sldMasterIdLst>
  <p:notesMasterIdLst>
    <p:notesMasterId xmlns:r="http://schemas.openxmlformats.org/officeDocument/2006/relationships" r:id="R6d278995a71e4f27"/>
  </p:notesMasterIdLst>
  <p:sldIdLst>
    <p:sldId xmlns:r="http://schemas.openxmlformats.org/officeDocument/2006/relationships" id="256" r:id="R0be85cfd3e1848dc"/>
    <p:sldId xmlns:r="http://schemas.openxmlformats.org/officeDocument/2006/relationships" id="257" r:id="R74cb24e4f4684519"/>
    <p:sldId xmlns:r="http://schemas.openxmlformats.org/officeDocument/2006/relationships" id="258" r:id="R72bc0520b09f48d1"/>
    <p:sldId xmlns:r="http://schemas.openxmlformats.org/officeDocument/2006/relationships" id="259" r:id="Rd67752e074ee4c77"/>
    <p:sldId xmlns:r="http://schemas.openxmlformats.org/officeDocument/2006/relationships" id="260" r:id="R79348dc3981b45c0"/>
    <p:sldId xmlns:r="http://schemas.openxmlformats.org/officeDocument/2006/relationships" id="261" r:id="R58cf9aecfc9d4369"/>
    <p:sldId xmlns:r="http://schemas.openxmlformats.org/officeDocument/2006/relationships" id="262" r:id="Rb2ebc4571f594708"/>
    <p:sldId xmlns:r="http://schemas.openxmlformats.org/officeDocument/2006/relationships" id="263" r:id="R4f5a4addfc744349"/>
    <p:sldId xmlns:r="http://schemas.openxmlformats.org/officeDocument/2006/relationships" id="264" r:id="Rf21e7590662041f6"/>
    <p:sldId xmlns:r="http://schemas.openxmlformats.org/officeDocument/2006/relationships" id="265" r:id="R5c644a0d54154a7a"/>
    <p:sldId xmlns:r="http://schemas.openxmlformats.org/officeDocument/2006/relationships" id="266" r:id="Rf334bae87f2f442a"/>
    <p:sldId xmlns:r="http://schemas.openxmlformats.org/officeDocument/2006/relationships" id="267" r:id="Rd00102911e7a4399"/>
    <p:sldId xmlns:r="http://schemas.openxmlformats.org/officeDocument/2006/relationships" id="268" r:id="R8ca86592cde94199"/>
    <p:sldId xmlns:r="http://schemas.openxmlformats.org/officeDocument/2006/relationships" id="269" r:id="Rfc1f756cd41941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f92382d854250" /><Relationship Type="http://schemas.openxmlformats.org/officeDocument/2006/relationships/slideMaster" Target="/ppt/slideMasters/slideMaster1.xml" Id="Rc863e32ac9234d2a" /><Relationship Type="http://schemas.openxmlformats.org/officeDocument/2006/relationships/notesMaster" Target="/ppt/notesMasters/notesMaster1.xml" Id="R6d278995a71e4f27" /><Relationship Type="http://schemas.openxmlformats.org/officeDocument/2006/relationships/presProps" Target="/ppt/presProps.xml" Id="Rae639dc94100499b" /><Relationship Type="http://schemas.openxmlformats.org/officeDocument/2006/relationships/tableStyles" Target="/ppt/tableStyles.xml" Id="R5ac45dda1ba24849" /><Relationship Type="http://schemas.openxmlformats.org/officeDocument/2006/relationships/slide" Target="/ppt/slides/slide1.xml" Id="R0be85cfd3e1848dc" /><Relationship Type="http://schemas.openxmlformats.org/officeDocument/2006/relationships/slide" Target="/ppt/slides/slide2.xml" Id="R74cb24e4f4684519" /><Relationship Type="http://schemas.openxmlformats.org/officeDocument/2006/relationships/slide" Target="/ppt/slides/slide3.xml" Id="R72bc0520b09f48d1" /><Relationship Type="http://schemas.openxmlformats.org/officeDocument/2006/relationships/slide" Target="/ppt/slides/slide4.xml" Id="Rd67752e074ee4c77" /><Relationship Type="http://schemas.openxmlformats.org/officeDocument/2006/relationships/slide" Target="/ppt/slides/slide5.xml" Id="R79348dc3981b45c0" /><Relationship Type="http://schemas.openxmlformats.org/officeDocument/2006/relationships/slide" Target="/ppt/slides/slide6.xml" Id="R58cf9aecfc9d4369" /><Relationship Type="http://schemas.openxmlformats.org/officeDocument/2006/relationships/slide" Target="/ppt/slides/slide7.xml" Id="Rb2ebc4571f594708" /><Relationship Type="http://schemas.openxmlformats.org/officeDocument/2006/relationships/slide" Target="/ppt/slides/slide8.xml" Id="R4f5a4addfc744349" /><Relationship Type="http://schemas.openxmlformats.org/officeDocument/2006/relationships/slide" Target="/ppt/slides/slide9.xml" Id="Rf21e7590662041f6" /><Relationship Type="http://schemas.openxmlformats.org/officeDocument/2006/relationships/slide" Target="/ppt/slides/slide10.xml" Id="R5c644a0d54154a7a" /><Relationship Type="http://schemas.openxmlformats.org/officeDocument/2006/relationships/slide" Target="/ppt/slides/slide11.xml" Id="Rf334bae87f2f442a" /><Relationship Type="http://schemas.openxmlformats.org/officeDocument/2006/relationships/slide" Target="/ppt/slides/slide12.xml" Id="Rd00102911e7a4399" /><Relationship Type="http://schemas.openxmlformats.org/officeDocument/2006/relationships/slide" Target="/ppt/slides/slide13.xml" Id="R8ca86592cde94199" /><Relationship Type="http://schemas.openxmlformats.org/officeDocument/2006/relationships/slide" Target="/ppt/slides/slide14.xml" Id="Rfc1f756cd419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a3d283415349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30858196174b52" /><Relationship Type="http://schemas.openxmlformats.org/officeDocument/2006/relationships/notesMaster" Target="/ppt/notesMasters/notesMaster1.xml" Id="R1073ae2b55de47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a4a9ee1f3480f" /><Relationship Type="http://schemas.openxmlformats.org/officeDocument/2006/relationships/notesMaster" Target="/ppt/notesMasters/notesMaster1.xml" Id="R65eef6ae93c5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b476dd7d7241b2" /><Relationship Type="http://schemas.openxmlformats.org/officeDocument/2006/relationships/notesMaster" Target="/ppt/notesMasters/notesMaster1.xml" Id="Ra31247a073e045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e2314a494274" /><Relationship Type="http://schemas.openxmlformats.org/officeDocument/2006/relationships/notesMaster" Target="/ppt/notesMasters/notesMaster1.xml" Id="R4de8c4e736eb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e6c84036440ea" /><Relationship Type="http://schemas.openxmlformats.org/officeDocument/2006/relationships/notesMaster" Target="/ppt/notesMasters/notesMaster1.xml" Id="Rec18f2ae366c40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ac2052a3b4f3d" /><Relationship Type="http://schemas.openxmlformats.org/officeDocument/2006/relationships/notesMaster" Target="/ppt/notesMasters/notesMaster1.xml" Id="R2ba40c01ed3848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a9d844b234380" /><Relationship Type="http://schemas.openxmlformats.org/officeDocument/2006/relationships/notesMaster" Target="/ppt/notesMasters/notesMaster1.xml" Id="Rdb9400ea797a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233a2fe784bc2" /><Relationship Type="http://schemas.openxmlformats.org/officeDocument/2006/relationships/notesMaster" Target="/ppt/notesMasters/notesMaster1.xml" Id="Rfc3c750ab58546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66343e3d634267" /><Relationship Type="http://schemas.openxmlformats.org/officeDocument/2006/relationships/notesMaster" Target="/ppt/notesMasters/notesMaster1.xml" Id="R793ce9562aac4c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39badd16fd4d8d" /><Relationship Type="http://schemas.openxmlformats.org/officeDocument/2006/relationships/notesMaster" Target="/ppt/notesMasters/notesMaster1.xml" Id="R0e283d39959248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fe2ba8164a4f81" /><Relationship Type="http://schemas.openxmlformats.org/officeDocument/2006/relationships/notesMaster" Target="/ppt/notesMasters/notesMaster1.xml" Id="Rfcc0add900564f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d65d5c7caa414e" /><Relationship Type="http://schemas.openxmlformats.org/officeDocument/2006/relationships/notesMaster" Target="/ppt/notesMasters/notesMaster1.xml" Id="Rb3cee0e2ff2a4c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2fa062cadd4535" /><Relationship Type="http://schemas.openxmlformats.org/officeDocument/2006/relationships/notesMaster" Target="/ppt/notesMasters/notesMaster1.xml" Id="R7880e816c9f04f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067ea47ce14a17" /><Relationship Type="http://schemas.openxmlformats.org/officeDocument/2006/relationships/notesMaster" Target="/ppt/notesMasters/notesMaster1.xml" Id="R83aa3e7c5e81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3d2d2e3d0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21245d01a4c47" /><Relationship Type="http://schemas.openxmlformats.org/officeDocument/2006/relationships/slideLayout" Target="/ppt/slideLayouts/slideLayout1.xml" Id="Rf415b92b51e5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5b92b51e5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7ee59db74ee9" /><Relationship Type="http://schemas.openxmlformats.org/officeDocument/2006/relationships/image" Target="/ppt/media/image.jpeg" Id="R92fd204b2d0147b9" /><Relationship Type="http://schemas.openxmlformats.org/officeDocument/2006/relationships/notesSlide" Target="/ppt/notesSlides/notesSlide1.xml" Id="Rc56ae1d9749f4e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7698e85ef47b5" /><Relationship Type="http://schemas.openxmlformats.org/officeDocument/2006/relationships/notesSlide" Target="/ppt/notesSlides/notesSlide2.xml" Id="Rfd338cfbd88b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bc5ea122049a6" /><Relationship Type="http://schemas.openxmlformats.org/officeDocument/2006/relationships/notesSlide" Target="/ppt/notesSlides/notesSlide3.xml" Id="Ra9427114d12e4e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e42246d43460d" /><Relationship Type="http://schemas.openxmlformats.org/officeDocument/2006/relationships/notesSlide" Target="/ppt/notesSlides/notesSlide4.xml" Id="R0e11fc7fcd63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1abb5132b4a1f" /><Relationship Type="http://schemas.openxmlformats.org/officeDocument/2006/relationships/notesSlide" Target="/ppt/notesSlides/notesSlide5.xml" Id="Rf619c21bdd0746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237361b744c8" /><Relationship Type="http://schemas.openxmlformats.org/officeDocument/2006/relationships/notesSlide" Target="/ppt/notesSlides/notesSlide6.xml" Id="Rd605613ed215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fc7183374173" /><Relationship Type="http://schemas.openxmlformats.org/officeDocument/2006/relationships/notesSlide" Target="/ppt/notesSlides/notesSlide7.xml" Id="R6f89b75b7d5c45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c76b5c6864718" /><Relationship Type="http://schemas.openxmlformats.org/officeDocument/2006/relationships/notesSlide" Target="/ppt/notesSlides/notesSlide8.xml" Id="Raad55c02625d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c898239014c18" /><Relationship Type="http://schemas.openxmlformats.org/officeDocument/2006/relationships/notesSlide" Target="/ppt/notesSlides/notesSlide9.xml" Id="R5fc91b620e234b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522b3ddd04f16" /><Relationship Type="http://schemas.openxmlformats.org/officeDocument/2006/relationships/notesSlide" Target="/ppt/notesSlides/notesSlide10.xml" Id="R372304eeae174c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53884dcf54f37" /><Relationship Type="http://schemas.openxmlformats.org/officeDocument/2006/relationships/notesSlide" Target="/ppt/notesSlides/notesSlide11.xml" Id="R3326cf62ef034d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42bfa895f4371" /><Relationship Type="http://schemas.openxmlformats.org/officeDocument/2006/relationships/notesSlide" Target="/ppt/notesSlides/notesSlide12.xml" Id="R3ff2d3190e0a45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3a4155775492d" /><Relationship Type="http://schemas.openxmlformats.org/officeDocument/2006/relationships/notesSlide" Target="/ppt/notesSlides/notesSlide13.xml" Id="Rb14ad2e6379a42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47e83a63e4c73" /><Relationship Type="http://schemas.openxmlformats.org/officeDocument/2006/relationships/image" Target="/ppt/media/image.png" Id="Ra655add203b74537" /><Relationship Type="http://schemas.openxmlformats.org/officeDocument/2006/relationships/notesSlide" Target="/ppt/notesSlides/notesSlide14.xml" Id="R0efe6e908bb14a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9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d204b2d0147b9"/>
          <a:srcRect xmlns:a="http://schemas.openxmlformats.org/drawingml/2006/main" l="1023" t="0" r="10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090C-12B0-4885-B644-66A504C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D706E-629F-4D7B-9ACC-558E7E5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9D16D-54B9-4C83-822A-E3AAFD5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PRESENTACIÓN PARA DIRECCIÓN GENERAL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043B1CB-DFBF-4D0B-980F-13544E06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191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BLOS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Enterprise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A34B0-1EE1-4B9E-AA1E-6CA353F3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6B6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6B673"/>
                </a:solidFill>
                <a:latin typeface="Aptos"/>
                <a:ea typeface="Aptos"/>
                <a:cs typeface="Aptos"/>
              </a:rPr>
              <a:t>Arquitectura organizacional y operativa BES v2.0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06E03-F2D5-4950-B867-E4FFE8E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4D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9D4DF"/>
                </a:solidFill>
                <a:latin typeface="Aptos"/>
                <a:ea typeface="Aptos"/>
                <a:cs typeface="Aptos"/>
              </a:rPr>
              <a:t>Gobierno · Personas · Procesos · Información · Tecnología · Mejora Continua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22DB1-316F-4875-8E37-3DC03389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9B7D3-C188-4438-9B4C-337FBA9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 estamos documentando una empresa.</a:t>
            </a:r>
          </a:p>
          <a:p xmlns:a="http://schemas.openxmlformats.org/drawingml/2006/main">
            <a:pPr algn="l">
              <a:defRPr sz="1350" b="1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Estamos diseñando la empresa que Best Linen quiere llegar a 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84A1A-B4CE-447E-ADF9-1F65C00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6B67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6B673"/>
                </a:solidFill>
                <a:latin typeface="Aptos"/>
                <a:ea typeface="Aptos"/>
                <a:cs typeface="Aptos"/>
              </a:rPr>
              <a:t>11 AGO 2026  ·  DOCUMENTO CONTROLADO</a:t>
            </a:r>
          </a:p>
        </p:txBody>
      </p:sp>
    </p:spTree>
    <p:extLst>
      <p:ext uri="{BB962C8B-B14F-4D97-AF65-F5344CB8AC3E}">
        <p14:creationId xmlns:p14="http://schemas.microsoft.com/office/powerpoint/2010/main" val="2100270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2">
            <a:extLst xmlns:a="http://schemas.openxmlformats.org/drawingml/2006/main">
              <a:ext uri="{FF2B5EF4-FFF2-40B4-BE49-F238E27FC236}">
                <a16:creationId xmlns:a16="http://schemas.microsoft.com/office/drawing/2014/main" id="{0CE89F34-17B6-41DB-B483-3096BA4B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CASO EJECUTIVO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1141D3A-C9F7-4626-9C89-B8BE1E44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De documentos dispersos a un sistema gobernado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39334-BCDD-4120-8891-38485E5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77150-B8E1-4E68-9DE7-EB23A53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5082-381E-4E17-8C35-3952DEA1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8BC20-08F4-4B54-A49F-5497486F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43100" cy="20383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BC8EF-394E-413F-9AF9-CA517523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B0B5A-ABAF-4371-85B4-0155815B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ESTRATEGIA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A8D1C-CD42-4640-A546-836F4B0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Decisiones y prioridades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D926A-7788-43AC-BBCF-CB976727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90700"/>
            <a:ext cx="1943100" cy="20383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39ED3-818B-4703-AE85-CE8A6E8C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0B1D5-E086-4EEB-A616-B7B09DB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PROCESOS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A6382-3754-4EDA-A130-54709E7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Flujos punta a punta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D1A9C-B68D-49F1-8B28-181DB698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943100" cy="20383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75FD5-CCD5-4C16-9097-94DD1DB8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657AF-3E51-435F-B341-E3A4AA42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PERSONAS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CE11F-04CB-486E-89A9-C0D69A2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Roles y competencias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1068E-DCE6-44EE-9DF0-3AE0E2C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90700"/>
            <a:ext cx="1943100" cy="20383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AF135-7E27-4CA2-8624-7717727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9DC03-4D3F-4439-85D7-1D943AE3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INFORMACIÓN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48645-1F2D-4CC8-800F-18D7B2E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Maestros y evidencia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15368-57A4-428A-905F-129ACB1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943100" cy="20383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06500-6AF5-479C-AEF3-11C80C3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6B6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6B6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B3F1C-00E8-401D-A9EE-87EE277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TECNOLOGÍA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6E736-A47F-441F-AE1B-B395962B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8610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7D4E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7D4E0"/>
                </a:solidFill>
                <a:latin typeface="Aptos"/>
                <a:ea typeface="Aptos"/>
                <a:cs typeface="Aptos"/>
              </a:rPr>
              <a:t>Odoo, BL RACKS y BI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556E6-5C19-4363-80C2-712DD64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D6B6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940E6-32A3-4175-A058-9BD74DE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052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BES integra las cinco capas en una sola arquitectura de ejecución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62A3D-DAEE-47C5-8EB7-565D2D1E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Cada decisión deja responsable, versión, sistema, KPI, control y evidencia. La mejora no queda en intención: actualiza el estándar y la competencia.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4C9ED-CCD2-4238-BC21-F9D99B4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7675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A6D"/>
          </a:solidFill>
          <a:ln xmlns:a="http://schemas.openxmlformats.org/drawingml/2006/main" w="9525">
            <a:solidFill>
              <a:srgbClr val="2C8A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DB168-F59A-44C8-88A7-AE23236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434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RESULTADO: ESCALABILIDAD CON CONTROL</a:t>
            </a:r>
          </a:p>
        </p:txBody>
      </p:sp>
    </p:spTree>
    <p:extLst>
      <p:ext uri="{BB962C8B-B14F-4D97-AF65-F5344CB8AC3E}">
        <p14:creationId xmlns:p14="http://schemas.microsoft.com/office/powerpoint/2010/main" val="1800976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3">
            <a:extLst xmlns:a="http://schemas.openxmlformats.org/drawingml/2006/main">
              <a:ext uri="{FF2B5EF4-FFF2-40B4-BE49-F238E27FC236}">
                <a16:creationId xmlns:a16="http://schemas.microsoft.com/office/drawing/2014/main" id="{6E1D15DB-DA48-469A-9114-DD86FF9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MODELO OPERATIVO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F216249-6648-4FCA-B0FF-B7AA71D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Una arquitectura que conecta gobierno, operación y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E073F-8FDC-4008-A0E5-BFAA548B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0ACE-A1C8-45DB-8808-D43152B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3A651-9072-47E7-B99C-D4D485A6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257A8-6E3E-4828-91AC-4DF1BFB7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1460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E43A5-1B1C-40ED-A574-69AEB0E9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8B78C-15D6-48DB-BB33-14CD9CAE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7C3E0-2E1D-4ABD-8BF5-9182580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CAPA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95950-1D63-4EE0-9834-6750723C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GOBERNAR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C242E-72FE-4287-BAE9-6B7A592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13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Dirección y propietarios de pilar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38522-20B2-4959-9877-08790AE1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CB787-38BA-4D76-A46E-3C3B3D12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51460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78D0D-6C09-4499-A1A3-19DFF50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5C300-16AE-4515-B2C8-16317E9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A55FD-7122-4502-B2FC-3BA9B54D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CAPA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083D0-E436-44CA-B8C6-DCB7C4F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OPERAR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BDD11-A708-44D8-B655-1225AEDF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13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Equipos, SOP/WI y sistemas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4D081-DAE8-450A-8BB8-F18D3A35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91AEC-563C-4CED-8592-250C9F4A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1460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A2534-743E-4CB2-82BE-53FD8E36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70EE7-BF3D-4AAF-AA79-0B2C632E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16039-5F9D-42F4-A8DC-94D25E5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CAPA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35E6E-AF4D-40CF-AC0B-3F20131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MEDIR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19A2D-57AC-4199-97B6-37ED6A0E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13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KPIs, auditoría y evidencia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74F9E-D233-4501-8FFC-DF55A406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DAE40-051A-401D-A0C5-A30A089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51460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3C4FD-93B2-40B0-9364-294F615A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514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FFED7-5F0B-4271-ACE1-5AF63D3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981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78B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78B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8D5FE-CC12-481E-B78C-96AE5CCE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C78B2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C78B2A"/>
                </a:solidFill>
                <a:latin typeface="Aptos"/>
                <a:ea typeface="Aptos"/>
                <a:cs typeface="Aptos"/>
              </a:rPr>
              <a:t>CAPA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D9E64-E4A2-4F4F-9474-BEBF9B37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MEJORAR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D991A-A359-490E-9CC0-140D21C5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13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A3, CAPA y estandarización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65BC6-3877-404A-B69C-E7F0657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B93D27-6994-4912-89C0-37CB05E5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B673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D6B673"/>
                </a:solidFill>
                <a:latin typeface="Georgia"/>
                <a:ea typeface="Georgia"/>
                <a:cs typeface="Georgia"/>
              </a:rPr>
              <a:t>BES 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E8AD24-7AF7-4B83-B673-4F3DEAE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· Datos maestros · Control documental · RACI · Riesgos · Formación · Roadmap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682CE-4C9E-4D21-8460-7EC2AB7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7D4E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7D4E0"/>
                </a:solidFill>
                <a:latin typeface="Aptos"/>
                <a:ea typeface="Aptos"/>
                <a:cs typeface="Aptos"/>
              </a:rPr>
              <a:t>La operación diaria alimenta evidencia; la evidencia alimenta decisiones; las decisiones actualizan el estándar.</a:t>
            </a:r>
          </a:p>
        </p:txBody>
      </p:sp>
    </p:spTree>
    <p:extLst>
      <p:ext uri="{BB962C8B-B14F-4D97-AF65-F5344CB8AC3E}">
        <p14:creationId xmlns:p14="http://schemas.microsoft.com/office/powerpoint/2010/main" val="1301021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eyebrow-4">
            <a:extLst xmlns:a="http://schemas.openxmlformats.org/drawingml/2006/main">
              <a:ext uri="{FF2B5EF4-FFF2-40B4-BE49-F238E27FC236}">
                <a16:creationId xmlns:a16="http://schemas.microsoft.com/office/drawing/2014/main" id="{DA3CD65B-380E-4FCF-A185-8ED0891B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ARQUITECTURA EMPRESARIAL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604E899-8A50-4C9C-9967-792A006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Los 14 pilares estratégicos del Sistema BES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0855F-5197-4806-9858-133B67D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FFE04-2551-4C59-9C09-70347332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244DE-E1CD-47BA-AE86-21B6547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AE76E-E573-4ACA-B0E8-482A0E44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E297-4718-4E05-889F-07B7DBB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B16AD-BCD3-485A-8629-4D0A925A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F094C-8BA0-4E71-8E49-37CB41D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Gobierno BES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674B1-C507-4CED-8AF7-31790EB2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51C3-C018-4914-8A26-DE7A189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E2831-9A8A-4103-9AAF-01F70662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288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6C4DF-8C31-44D8-AA56-BC23ECE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98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BLOS 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F2AD9-F1CD-4053-8314-227984E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72451-F203-4BD6-9E19-5090954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160A6-D17E-4258-91E2-8585D06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48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B9C47-FFBC-4FB9-9E62-AE55B19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SIGO-BL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B218B-ACEC-421E-9757-6734A3E8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E1123-F301-44C1-8E9B-9B423716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D0081-E314-413C-BF11-0700350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B34C4-0B13-456A-8F9F-B264528A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480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Operación Integral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A3887-67FE-46C1-8D3B-84518DB5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5A05C-76A1-409F-87DE-62B3D7F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4FE58-6E25-416E-BC9C-CC5B336E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9349F-5CB9-48ED-876C-68EE72A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Odoo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E51B9-437D-4360-A119-18022297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B20CA-9AA2-43A2-8DD4-EC66F20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462C02-9B89-4DD6-A600-ED7C240E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E409A-FB2B-4729-A538-4DC50A6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BL RACKS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106F5-7E20-4A58-A9C6-2971D89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4A43D-2B76-433D-A7D2-A0147962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5C385C-D5C2-4B21-B813-4268FE9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732FBD-4701-4B1F-8EA5-F29817A9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054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Integración Odoo ↔ BL RACKS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DDEC37-2858-4A25-8226-59805CA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08981-5CF1-4866-B107-0A8DBDCA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472004-DA55-4DAB-AF03-859B7C5E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577C86-715A-48E1-B3A9-29D00AA8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Business Intelligence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B5BF8-9BA2-48ED-AE74-091545F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7647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AFDB05-4A18-410D-8A85-C4BA09F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A505C-DB3E-4790-868E-DD26B20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288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B08832-17F2-4B42-8BF7-3711DA1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98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Calidad y Auditoría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43527-50BD-41DF-AD5A-FEA0CA7A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9560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D2C403-B851-41D5-91EE-2DC6FB56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3AD8D4-EAE9-42F5-9BBB-81B4883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48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4431F5-F8CD-41FC-B477-9930A014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Mejora Continua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E6606C-0FA5-4BC5-BB79-283119A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1472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A889C-D261-45DF-BD4A-82D3F5D1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6259C6-2CF7-467B-9BC8-AF65C8E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67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69F198-B763-4D9E-8616-363BD391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480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Universidad Best Linen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C7A99E-ED4B-47D9-A8FC-EDC5E62E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F0B25E-BD96-44D7-8C37-9D6CBF2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DC2988-6589-4719-9600-3079C85F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862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60D0CB-3A7E-414D-AD54-A1B5477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Gestión del Talento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FB527D-4EFE-4976-946A-459BEA9A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5297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D32365-2DDD-4C34-9D6D-6A2D5B7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548E97-1FB6-49DF-9605-47428B6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9053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5A5A5C-D94D-40F3-927A-21A8B3B0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863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 Documental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B8BF05-9569-438B-8D63-858761EE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72100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76FEA1-1CFA-44DC-BC84-A4E76BDC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D0BAB7-3681-47FE-BE37-209E8F4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ABB785-0894-4CA7-AAA8-66F3DB14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Dirección General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33DA8E-D03F-4425-BDCA-745DE62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134100"/>
            <a:ext cx="403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CA9878-4F98-453C-9652-F82BEDF4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200775"/>
            <a:ext cx="3848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 PILARES · UNA SOLA ARQUITECTURA</a:t>
            </a:r>
          </a:p>
        </p:txBody>
      </p:sp>
    </p:spTree>
    <p:extLst>
      <p:ext uri="{BB962C8B-B14F-4D97-AF65-F5344CB8AC3E}">
        <p14:creationId xmlns:p14="http://schemas.microsoft.com/office/powerpoint/2010/main" val="1494963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eyebrow-5">
            <a:extLst xmlns:a="http://schemas.openxmlformats.org/drawingml/2006/main">
              <a:ext uri="{FF2B5EF4-FFF2-40B4-BE49-F238E27FC236}">
                <a16:creationId xmlns:a16="http://schemas.microsoft.com/office/drawing/2014/main" id="{20607CE4-0211-41F3-A770-062497D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CONTROL DOCUMENTAL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8845AF4-FAFC-4D9D-B983-1287920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La misma estructura de 22 carpetas en cada pilar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98DB3-FEE5-47CC-B7F4-7D9CCCA8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07A3A-BD77-43D6-8134-B0EC723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EC5A1-4E27-4B52-83C8-168A72C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1FA82-7ACD-4F3C-B368-4B4E1A92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324350" cy="4114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1981A-74BE-449E-BDD8-6056537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05781-8902-45C2-9E86-3DD6D9A8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57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Gobierno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E68EA-9908-42D1-9112-41655A3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63898-5D5F-490A-B90D-B1249C4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752C-6E78-458C-8874-01CB43F8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Manuales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B02AB-B0F0-480C-8F1C-ABF3FE1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146AD-61E2-4DEC-ABDB-F75F6A8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3F28C-E940-43F3-8EA4-1CD3A51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EDBA6-DF31-4008-A14D-BEACCFC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C2C13-5E6C-42EB-A5DD-FA7082B9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4077D-C0BE-4A05-A1EC-77CA0D39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33650-1A98-42A1-B7E3-32C33C1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A5665-8019-4AE2-B662-D620E17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2FDBF-82DA-43F5-BBC0-B7A2E96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21DFA-860C-4DB8-8D03-3ADF6EEE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B36C2-8375-4E38-BC71-92267ABF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A639D-0449-42CF-B62C-D02090C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WI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E6E1B-FDED-408E-861C-833A442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A7B78-FE72-4102-8D84-0527E48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AE461-AC99-4421-A0F4-49C7506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6236C-D3FC-48C4-AEE6-FD7D2F19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92684-0D3F-4E8D-8C06-8853ED2F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F079-6418-4D56-AD69-A83D90D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STD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16F30-389E-4B7E-945D-FBBA451C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B68AE-94EB-4627-B5B7-01B521F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183C7-EEF5-40E7-9827-C31D646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0648A-C896-4DD3-B32D-F2B1EED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3A501-6A50-42C5-A5E7-E681528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19015-A535-48C8-9632-DFA0353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4F8CF-6C2D-4CDF-8653-A07D22F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E93891-E7F4-44B3-B89F-0EDDAC11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384A9A-E67F-49B0-AF61-5013B55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75F4C5-8671-4067-A8A5-2228058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57350"/>
            <a:ext cx="4324350" cy="4114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651D31-7114-4874-8D73-9427C8A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66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5B6459-F931-43F2-85F6-7A1E9A19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KPI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BC6BBF-6E9F-4FC0-873B-438F5D8E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145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F8B9DF-4F19-41ED-AD2D-873F921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0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6B05B8-0785-45FD-A8CA-9051C38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9A87E7-A691-432E-9BD8-0F524AF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479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36E3EB-C37A-44E5-91C4-4935EF32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33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8F3899-2BD3-483A-9CB2-94B6143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Auditorías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A0736D-EAC5-4E09-B5F9-F7DB772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813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65B003-D637-49E5-9E65-F7C16C3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624A0C-44C3-4BF6-AD2C-46ECFDE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Riesgos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61E98F-B956-4373-93A1-C4FF3DA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146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B34870-37F8-4F9A-BD12-A7509B0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00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E22B40-D667-427C-AD19-3385CA4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Mejora Continua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373A1F-BD0A-43C2-939A-DDD17C6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480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A47BB6-8405-4285-8F06-ED565E3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337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664D1B-FD33-444C-A988-A62D864B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Diagramas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6D232C-52ED-401E-835F-58661691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814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ADED8F-D068-4EBA-A4D6-345E662A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67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DD3509-8A5B-476C-AD74-1758A75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Formatos Especiales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7C1328-0B2C-4B9D-9817-8845D31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891CF1-B1F5-4061-9B1A-F5A7518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00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A7D46F-4C9D-4C75-8F35-EDBD3EF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Evidencias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6DF6D3-BEA4-4AD4-8F4A-35B90897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481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BC2BF3-5FAC-4D18-A4CC-D8431A8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80A420-F8BC-482F-A8E1-F799306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Plantillas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677CD2-120F-455F-91D9-3A73E250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815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9710D5-6191-4F6E-A664-E7F66F9E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67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924B64-8F35-4CDA-8037-0438B44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Historial de Versiones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DD6C72-871A-49BC-83EC-62A6D7DC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149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704BC5-7432-4098-A2E5-CE19333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0C78F4-5F5B-4B57-966D-C03B58A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README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5F1597-745D-46A9-AFCA-092F2F4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57350"/>
            <a:ext cx="1676400" cy="41148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23971D-C6C6-4698-B43B-36C685BC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43100"/>
            <a:ext cx="1181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MAPA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DEL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PILAR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3F0BF6-5F30-4A84-A4F5-7FA98EFD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5CE84E-CFF8-4209-9EA3-93ECE2A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1295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Propósito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Interacciones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Procesos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Documentos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Sistemas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KPIs</a:t>
            </a:r>
          </a:p>
          <a:p xmlns:a="http://schemas.openxmlformats.org/drawingml/2006/main">
            <a:pPr algn="ctr">
              <a:defRPr sz="105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</p:spTree>
    <p:extLst>
      <p:ext uri="{BB962C8B-B14F-4D97-AF65-F5344CB8AC3E}">
        <p14:creationId xmlns:p14="http://schemas.microsoft.com/office/powerpoint/2010/main" val="1955654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FB16C703-A54F-49BA-8187-4D217DF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ARQUITECTURA ORGANIZACIONAL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D867B5E-CD6E-4781-A1DA-4990092F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Responsabilidad clara desde Dirección hasta la ejecución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5F76-3700-4A47-86E8-48763E0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82332-5318-4219-B131-9C669C81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E0DF-B821-48A9-BE43-8F8798C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4C20F-0EFA-4AC4-9EF8-29C7B799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00200"/>
            <a:ext cx="4572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FE193-F48E-4CFB-B152-051AB74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33550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DIRECCIÓN GENERAL / GERENCIA SENIOR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E2FAF-04A3-4FC6-A842-222F070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90725"/>
            <a:ext cx="415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Estrategia · rentabilidad · gobierno · recursos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5041F-94B9-4AF9-ACDB-4EA4195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61912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5B53B-6650-4444-9391-7702F232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09850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GERENCIAS DE ÁREA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806DA-2C24-48CF-B052-C5DBD74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67025"/>
            <a:ext cx="577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Operaciones · Finanzas · Supply Chain · Capital Humano · 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1C20F-5051-457C-B993-94675C40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7810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44F76"/>
          </a:solidFill>
          <a:ln xmlns:a="http://schemas.openxmlformats.org/drawingml/2006/main" w="9525">
            <a:solidFill>
              <a:srgbClr val="244F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3CEF2-3A29-4A09-97FD-05BE5301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86150"/>
            <a:ext cx="739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JEFATURAS Y COORDINACIONES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03FC5-18BA-43D1-B9B8-3DA16913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739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Planeación táctica · prioridades · capacidad · escalamiento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8373C-973F-4E3A-B2D8-6E97E29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29100"/>
            <a:ext cx="92392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D6FB7"/>
          </a:solidFill>
          <a:ln xmlns:a="http://schemas.openxmlformats.org/drawingml/2006/main" w="9525">
            <a:solidFill>
              <a:srgbClr val="2D6F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CBB4D-D64A-4F6C-A7EE-142D6474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362450"/>
            <a:ext cx="882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6D437-D8BC-4237-BF14-3D9D67B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19625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Control directo · seguridad · calidad · evidencia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FFDB4-6C9E-470F-8419-04C583A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77F6B-9AB9-47EE-84CE-BBA3802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1024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ESPECIALISTAS Y OPERACIÓN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0F1F9-83BD-4F80-8041-583F21F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95925"/>
            <a:ext cx="1024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Analistas · Mesa de Control · Auditoría · Montacargas · Auxiliares</a:t>
            </a:r>
          </a:p>
        </p:txBody>
      </p:sp>
    </p:spTree>
    <p:extLst>
      <p:ext uri="{BB962C8B-B14F-4D97-AF65-F5344CB8AC3E}">
        <p14:creationId xmlns:p14="http://schemas.microsoft.com/office/powerpoint/2010/main" val="1899005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-7">
            <a:extLst xmlns:a="http://schemas.openxmlformats.org/drawingml/2006/main">
              <a:ext uri="{FF2B5EF4-FFF2-40B4-BE49-F238E27FC236}">
                <a16:creationId xmlns:a16="http://schemas.microsoft.com/office/drawing/2014/main" id="{700D8AA2-9249-4054-93EC-563A38F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PROCESOS TRANSVERSALES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55DBA34-6887-4A63-A753-097A2344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La cadena de valor se gobierna punta a punta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A974B-F6C3-4829-AD4B-FAC7F0E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BCCBF-047B-43D6-AF48-1AF7D11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EE81C-C733-4FFF-A351-7B56B63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219EB-E6C3-4660-B136-2D7AF741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DF33E-D596-4E0F-96B5-D5C598A1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6388D-29BE-46AD-A3BC-A8AF42E1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Compras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0C51B-ABF6-493C-846D-E0CC54DC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E5BF-3E4F-4293-856C-0527BC2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D566A-92D0-40CF-AAF4-5F1CCEF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96F55-70A1-4DD8-A793-D855B8FF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Importación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584B2-E7D3-433A-95B0-63D2C5F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3FFBE-0F5C-49ED-BC50-95C3533E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64A67-A0E4-4C7F-BA9F-00BD16D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8C76D-9EF8-45C1-B626-681758B7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Fabricación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FF9E3-649C-4037-B7DB-C6A5476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E78FD-D99C-4795-8E81-61F9A04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7D380-2642-44FF-A56A-FFDAFB3B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7E183-C0F5-4405-8B48-3ECBA6F0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29A77-EC67-4B8F-A1B7-FB22D61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35924-F09D-4175-B1DA-DD6E3419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0B746-7D9C-4951-AD2C-A5B38235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E8692-7BE2-42A2-A1D5-EAFE9BE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Inventarios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CBCA3-FB2B-4421-ADB8-8470209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B030D-E43E-4D3F-BD2A-96FE852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D4A1E-12CA-41C3-8047-E565F44D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7D03A-A6EA-4B87-AC39-C784E567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Outbound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7232D-8E1B-4EB5-8F82-5D81EF11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A3E7B-A206-40D8-AA76-9281629B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94780-A51C-44A2-9DD4-B0B362F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51EAB-F785-4503-8D23-816CC229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Facturación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F8BB3-AFD8-4F70-8EBF-218CAFF9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38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0EC13-B204-4468-A055-E32ACABE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71650"/>
            <a:ext cx="1181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7F443-0158-4734-9185-D763923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85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18221-74EB-418E-8003-C50986D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43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1B7D5-CC22-418D-86AB-EE79947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3F76CE-6C45-43BD-B4FA-3974502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044DC1-BB98-4F12-B804-42A27BC9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ADMINISTRACIÓN Y FINANZAS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BD062C-422C-404F-9EBC-F4EF127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5277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Gastos · CxC · CxP · rentabilidad · cierres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6374F0-664C-4332-AEAA-4957C344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3A2BC2-3C6F-4F7E-A852-5AB465D2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EBA8F3-198C-441F-AFA5-E7990B07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CALIDAD Y MEJORA CONTINUA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1CC57B-9090-4F45-9630-923E8FA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3857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5S · Kaizen · causa raíz · A3 · CAPA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F20B5F-5EF3-4413-B137-4AE85BA4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67D61F-25B3-41A8-B0EC-DCC646AD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833AB0-EE58-45DA-B794-543FFC33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SOPORTE Y CAPITAL HUMANO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D0D92C-A43A-4469-A1E2-764481D6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Personas · mantenimiento · seguridad patrimonial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568B2F-3CD8-4080-8D84-AE04F39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CDDD2E-57C0-4B84-90A5-F8D0730A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25A5B1-219A-4DD8-A2C3-E8DE0877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INGENIERÍA Y DATOS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5B3C04-1A67-4980-AF4A-C996778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017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PT · BPMN · SIPOC · KPIs · BI · arquitectura</a:t>
            </a:r>
          </a:p>
        </p:txBody>
      </p:sp>
    </p:spTree>
    <p:extLst>
      <p:ext uri="{BB962C8B-B14F-4D97-AF65-F5344CB8AC3E}">
        <p14:creationId xmlns:p14="http://schemas.microsoft.com/office/powerpoint/2010/main" val="1897081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eyebrow-8">
            <a:extLst xmlns:a="http://schemas.openxmlformats.org/drawingml/2006/main">
              <a:ext uri="{FF2B5EF4-FFF2-40B4-BE49-F238E27FC236}">
                <a16:creationId xmlns:a16="http://schemas.microsoft.com/office/drawing/2014/main" id="{58DD5F17-A052-44F7-8BF8-11F1C9A0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GOBIERNO DE INFORMACIÓN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886A2DB-77D7-49CC-9D5D-09B9FCD4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Mapa Maestro de Información · Odoo ↔ BL 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CF5D-B83B-4CC2-B0F1-22471B3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4F122-D8D8-40C8-A9B8-F620C4A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2B9BD-FD47-4A76-AE26-C908599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48C3B-CA85-448C-9FD2-8767ABD1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97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76115-7B74-4A37-9D96-16A917E0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8C5AA-50CF-4E6F-825B-9B82107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3CD19-C1D3-4FFB-B023-306CEDB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05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FUENTE MAESTRA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CD35F-CD7B-4F71-82B6-D483473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D2B43-CAC2-4E33-9FC6-CA74933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1924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9B3D-C04E-479C-940E-4BA9093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48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C416D-DF6D-4FBB-BEBB-25FCAEE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DE CONSUMO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0EEBF-453B-4476-82C3-A5B70D0C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FE2BE-BCB4-43EF-BDDD-79E1CA0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Orden de Compra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87105-11EC-4245-BC55-E37BE3A3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3B2FF-BC59-4E0C-8B2E-DD4BFD21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Odoo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C9A1C-B543-4274-BF8E-8CC76CD9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3B350-8E7C-45EC-992F-30F7AAAB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28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Compras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D061C-93FB-4B5B-B056-15A324BE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B98A0-5B78-41A8-B268-7FDB79D1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61EC0-FC9A-4E74-875F-9945725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F1FEB-DAB3-4A13-8681-880E8A3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9B19C-CF41-431B-93A4-41B1FB8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5C02-BEAE-4355-9EC3-B24BF93A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BL RACKS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7FB4D-8E8D-4D5C-AFC1-F728BB74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2DDA9-22F8-4A63-87C5-C4692F4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432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Logística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6B55E-D9A2-4FE2-906D-083E477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1A198-276C-415F-8D00-4CBD987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1957D-F43B-40D1-AC5D-ECAF0804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563AB-5475-4185-A877-9FA2BCDE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Alta de Rack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22DD9-1B8A-4C75-9447-EBFE484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0996E-B640-4D94-BA59-2AC7DA74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Ambos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DE009-8C02-4011-8E10-583C3C0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C50F4-23EB-4384-BD9A-695A3B6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57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A36788-9724-4BD5-B9FF-38A0BE8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1444C2-DCEE-4A25-BBD7-545D805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A48021-9C4C-4920-8D62-FA00928A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747898-1E93-4EF2-9DC1-67A5ED0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Movimiento de Rack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AA7DD2-8C93-4F4B-B197-EE56571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17B2E-35C3-492E-BFD7-0D3880CD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BL RACKS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E47807-C93A-476F-97EB-F670580A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DA6DF3-15E0-48CE-A948-9D69AE25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3B68B5-2CB3-4AE4-B23D-7D480AEB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6CBFA9-3304-494E-A50A-92741788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0F3F35-1BF4-4266-9944-AD416103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286ED0-1FBD-4E31-904E-728132A2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Recepción PT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F358FA-A561-4CC7-B27A-8AED36E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01832C-49D9-40BA-8FE5-B0F5302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BL RACKS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0E5142-C6C0-4A04-B611-E421795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33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E20A34-73C2-4AFA-8BA7-8DB74F7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Inventarios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3105F7-4FFD-4C94-8856-D4CE45A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406001-BF1A-43FA-8715-CE3B0A2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BAA36B-E4CC-4674-A5E3-CFF0F1F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272F64-77BB-46AA-9DEA-D933F6D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Inventario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E13E9C-2323-4E8C-9AE2-A498497E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482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F03ED5-8C2B-40E7-B096-B8872FE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Odoo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650F13-69D7-47F8-88E3-9762BAC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994E74-F0F2-4647-BA0A-A4B800DF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Inventarios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A4E364-DD72-4184-9E19-7BF2E61D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FA575E-B7C2-430F-8128-81312CB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11F4B9-A8F2-4D17-B361-682876A0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8B71A8-0EBE-497F-8AAF-4381583E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Trazabilidad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7C1D31-19C1-4D11-A824-45865D2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6255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960A41-62B3-4040-A1E8-E215AAE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BL RACKS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DEC65B-6FC0-46E4-BC91-B95DAE7D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16CD9D-6682-40FE-81EF-27D57C7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067820-F163-4091-9A76-31004184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48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98EC43-1946-4B80-B8B7-BDE56674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149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Sello de tiempo · usuario · causa · evidencia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57D273-FFA8-4F84-99E3-4ED92A4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D6B67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236F27-ABD5-45E6-9C87-D0B7D8B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Regla: los consumidores no corrigen silenciosamente el dato maestro; registran, contienen y escalan.</a:t>
            </a:r>
          </a:p>
        </p:txBody>
      </p:sp>
    </p:spTree>
    <p:extLst>
      <p:ext uri="{BB962C8B-B14F-4D97-AF65-F5344CB8AC3E}">
        <p14:creationId xmlns:p14="http://schemas.microsoft.com/office/powerpoint/2010/main" val="824964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-9">
            <a:extLst xmlns:a="http://schemas.openxmlformats.org/drawingml/2006/main">
              <a:ext uri="{FF2B5EF4-FFF2-40B4-BE49-F238E27FC236}">
                <a16:creationId xmlns:a16="http://schemas.microsoft.com/office/drawing/2014/main" id="{0ED12171-192E-4AC0-BD30-0854D67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EXPANSIÓN OPERATIVA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406A173-BAC9-4B25-B0CD-C231C39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Nueve puestos para habilitar control, análisis y disciplina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C0178-0DBC-431D-915E-671AAE99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4D6B8-867D-45F3-A30B-CB3F0DE5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07D6E-580D-4900-A1DA-2DBFEB8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36B83-46D4-4021-B028-31411A57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DF9C9-DD29-4F37-9D6A-5F5AFCE6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B46D4-59C5-4946-91BD-EB349BB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ROL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1B1E6-563D-44B3-899D-3B5DACB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Mesa de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29DB5-B71E-4C90-8A6D-1FD6FBA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Prioridades y conciliación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2D134-9D70-4AB9-A6DF-E221A208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0490F-0E40-40E5-84BF-01FCF4E5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0C535-F8E4-4F89-BC7E-59116EFD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ROL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8835E-0AE9-4172-B803-7BCEC04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Analista Inbound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D22EC-A971-4A02-9C1E-3FE44627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Recepción y 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8A562-CEF3-46CB-82D6-409C160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B5E98-40DD-41CD-B5C8-2B6A5A8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8633F-FD4E-4312-A04A-9DF9FD0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ROL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FB9D3-4959-4544-8E3D-4EE04CB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Analista Outbound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16452-FB8C-4A1A-A0C1-4162305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Cumplimiento y 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8210F-3FCE-4E9A-95A0-41D9065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43118-41E6-42E5-8FF3-00F6D1F6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044E2-4C0C-4F44-B3B0-4CE73D9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ROL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93413F-B6FC-4A1D-9C5C-BE09A05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Coordinador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E1D92-7703-4FD5-8704-8ABBEC38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Capacidad y escalamiento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ABC680-C547-458C-AB04-DF827EA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2F19D-2A8B-4EDA-8572-C152D71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F4DCA-1ACD-4989-A788-0522F3E7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ROL 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6C19B3-6882-41E0-94A9-24B085A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Montacarguista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C0FD4-ABE1-4FF5-B65D-447CE08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Movimiento seguro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A0572-44C6-424E-95AA-2D4F19CB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87FD2-75F3-4BF9-8B18-676BF8C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FC017-72E0-442C-96C5-8147B2F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ROL 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BEB7A9-59A8-4D39-B911-F031E98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Auxiliar Multifuncional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6B97A-BA85-4A35-ADF0-6730BF3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Ejecución estándar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FB156B-5B84-4BF3-94E6-01E8344C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E18519-0995-49D8-B7B5-5968F9D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ADA10-BF89-4A37-983C-0E46614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ROL 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7C2372-67DA-41BB-9B59-2EC9519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Analista Inventarios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F7921-56F2-4CEE-BE5F-F14F9B6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Exactitud y ajustes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5F847-40AB-47F9-A367-B3A6817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003B80-7917-4F2C-9388-DFE777C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526D07-72BD-4F94-A6F3-C9E5B09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ROL 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C07134-E1F4-4199-A3A7-9F270E1D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Auditor Operaciones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9323EC-DF26-4CEE-84CB-50BA261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245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Adherencia y hallazgos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3CA550-8A49-43B1-8613-FE71181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34861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61C861-90C3-4351-A8D0-E94C865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348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F59333-A83F-4C97-8274-F511A19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ROL 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E01915-86E4-4FE3-9E4A-7A0EBB8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673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Auditor Calidad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6E0A9D-86F9-4B8C-A285-07F833A6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245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Conformidad y CAPA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45F6B-CE96-40F1-B5F6-519C117D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53150"/>
            <a:ext cx="1024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Habilitación = perfil autorizado + capacitación + evaluación + acceso por rol + evidencia de competencia</a:t>
            </a:r>
          </a:p>
        </p:txBody>
      </p:sp>
    </p:spTree>
    <p:extLst>
      <p:ext uri="{BB962C8B-B14F-4D97-AF65-F5344CB8AC3E}">
        <p14:creationId xmlns:p14="http://schemas.microsoft.com/office/powerpoint/2010/main" val="305273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10">
            <a:extLst xmlns:a="http://schemas.openxmlformats.org/drawingml/2006/main">
              <a:ext uri="{FF2B5EF4-FFF2-40B4-BE49-F238E27FC236}">
                <a16:creationId xmlns:a16="http://schemas.microsoft.com/office/drawing/2014/main" id="{FFE58123-F221-4A52-A007-6B666FFF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ESTÁNDAR UNIVERSAL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42182BE-A25D-42B3-9D54-FF7EA2B2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Cada documento nace controlado, trazable 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08D7-4FAC-4734-BAFF-701DD786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F31F-02CA-4F7E-8541-17F83F09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48348-0415-408C-B63B-DAA41769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11BB3-1029-4A51-8009-4988AB7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601E-1DF8-4951-9E1B-1F3690A9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BES-[Pilar##]-[Tipo]-[Consecutivo###]-v[Versión]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7C61E-376E-499C-90F1-7EAFBF92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36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6B67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6B673"/>
                </a:solidFill>
                <a:latin typeface="Aptos"/>
                <a:ea typeface="Aptos"/>
                <a:cs typeface="Aptos"/>
              </a:rPr>
              <a:t>Ejemplo: BES-03-PRO-001-v1.0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CAD3-FA32-4EBC-86E0-8E5A2CE6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5FE8-88D1-4D26-9962-658B9BB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24984-6AD7-4150-9F86-71E6CDE2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Portada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5E88B-45D2-4D56-B130-0D1D2DA8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C7E04-C7B3-402C-BB3B-99BAB6D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0BE7F-0830-4800-83F9-B7567EB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43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Versiones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1986-A7C1-4CC0-99D8-C0D5B97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6E712-94C0-486D-BB5C-DC09306B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F2E8D-B3BB-4F32-AE2C-BA41C14A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43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227A8-45A4-4220-A84B-B0EFC3C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416F5-7001-4565-9906-30988BD7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6211E-FFF3-4BBA-B4BC-F6469AD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43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C0A53-EDFC-4B25-979D-B1C786D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A7540-C86D-42BF-B849-FEC5B07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E9444-0A7B-4231-877C-2B6B6874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Glosario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A75C0-7E0A-4580-8002-4A1A239F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42D1B-2A7B-4FA7-8FFF-F5F1E29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56FB8-6B9D-4905-9096-CAAE582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Desarrollo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0DA0B-8BC4-4C19-A9C0-71B2ADB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F496D-27BD-4143-9096-3171D7B8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A93C2-8447-44BF-A5E3-D9275A2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43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1562C-554D-4873-BFE1-CC3C1DF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4815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5CC3D-56BF-4C7C-BCE8-56BDEE0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FDF23-AC59-4478-ADDE-5BFF6EFA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43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502A87-83B0-4861-B64E-4411B258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2D7D5F-D3B4-4C6A-813B-BD4E81D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92BBB-6E6D-4D82-B4A7-223DE11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Evidencias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AD6A17-7DA9-4EB6-BC2C-EB00742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48150"/>
            <a:ext cx="1943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3A03B9-B262-4609-9273-BCD6235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8B3841-C8A2-4545-B9AE-C9E8209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43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Firmas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13B039-25D6-4D24-9C23-9C48FD5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Encabezado: Pilar + Código + Versión   ·   Pie: Confidencialidad + Fecha + Paginación + Documento controlado</a:t>
            </a:r>
          </a:p>
        </p:txBody>
      </p:sp>
    </p:spTree>
    <p:extLst>
      <p:ext uri="{BB962C8B-B14F-4D97-AF65-F5344CB8AC3E}">
        <p14:creationId xmlns:p14="http://schemas.microsoft.com/office/powerpoint/2010/main" val="1623904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-11">
            <a:extLst xmlns:a="http://schemas.openxmlformats.org/drawingml/2006/main">
              <a:ext uri="{FF2B5EF4-FFF2-40B4-BE49-F238E27FC236}">
                <a16:creationId xmlns:a16="http://schemas.microsoft.com/office/drawing/2014/main" id="{97870316-F9F0-4C00-9281-FBF718D0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GOBIERNO Y ACCOUNTABILITY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23CE179-50E6-4CD4-9F4F-73D3852E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RACI convierte intención en autoridad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E1046-28C9-4DE5-8EBA-476607C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B8F1B-E51C-4A24-9B8B-868D2C5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BFD8E-22DE-497F-B30E-462A14A4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72F11-4996-42A0-BF0F-AFD9735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ABEC6-B1F1-454A-A80E-E129FFD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Aprobar arquitectura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EB785-8FDD-4861-9143-AB81D481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78783-7569-4DD0-82AA-5EDBF4B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9547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Dirección General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3DB68-F28F-4D92-94E4-C2EAABE8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Acta y versión aprobada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2BB38-AE02-4EF3-9A18-42203A59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49DCD-80C4-4CDC-A6FE-A6A5A73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Mantener pilar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4C6DB-1D6C-42AC-9EEA-17797AD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5DDAC-342E-457B-9C90-F2E490B5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9547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Gerencia responsable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970DD-63ED-4820-A0CC-3E232BE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Mapa, índice y revisión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44D43-3520-40A7-9FF0-385842F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1F15C-93C9-44A1-96EA-5780736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Liberar documento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35B36-674A-4799-94A8-C9919554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666F4-94CD-46FB-9802-57B21F1E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Dueño del proceso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33691-6389-4D76-BDCD-793DCCFC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Firmas e historial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7E5B1-C8AB-4ACF-908E-DB157AEB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31528-99B2-4812-A37E-D3A1DE2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Gobernar dato maestro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EAE83-ACA6-4B40-BAD2-B8D834D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A5825-A26C-442B-B87C-3EDE74C0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Gerencia del dato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8B26E-9480-4E61-809A-D94C05F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Bitácora y conciliación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83D09-A5EA-43F5-9B76-C2EE3580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163B9-D443-4F52-927C-7EDF962B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Habilitar puesto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64FDC-1EFA-4173-8A53-12EDB6D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5770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C3422-6F49-419C-8D0C-0B45AFA8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2437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Gerencia de Área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53527-6CA9-4DF2-8C05-DF3FC2B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Perfil, examen y acceso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25203-C4B5-4295-8F70-2B242193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57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EA815-2230-46CB-8FB0-A006333A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Cerrar hallazgo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D37D8-FCFA-4132-A822-CED5C8B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F"/>
          </a:solidFill>
          <a:ln xmlns:a="http://schemas.openxmlformats.org/drawingml/2006/main" w="9525">
            <a:solidFill>
              <a:srgbClr val="173B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30554B-D4DB-4310-A059-712254C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2437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· Gerencia de Área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D85A41-1F6B-4F71-8A8D-50266CC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33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Causa, acción y eficacia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D41B41-CEF7-4357-91C6-26960091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4191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D6FB7"/>
          </a:solidFill>
          <a:ln xmlns:a="http://schemas.openxmlformats.org/drawingml/2006/main" w="9525">
            <a:solidFill>
              <a:srgbClr val="2D6F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024CD-F6D7-40C8-BE07-E0F7CC6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150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76293-A5EF-4057-8335-9250D249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1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Ejecuta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3B464-F02E-4124-9A60-AD1B4F23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29300"/>
            <a:ext cx="4191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07FF98-8022-4D02-9FE3-25B9868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9150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021F2E-DA40-48E9-A235-FAFD5D6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1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Responde por la decisión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9F9FA3-BD72-4D8D-91C5-32FB273E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829300"/>
            <a:ext cx="4191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C8A6D"/>
          </a:solidFill>
          <a:ln xmlns:a="http://schemas.openxmlformats.org/drawingml/2006/main" w="9525">
            <a:solidFill>
              <a:srgbClr val="2C8A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223EF6-2363-4CF0-9A6E-26C5598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150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0CE3F-4A8F-44ED-A011-0D353784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1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Aporta criterio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1C6C2E-450F-49D1-B595-5E7FEE6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29300"/>
            <a:ext cx="4191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44F76"/>
          </a:solidFill>
          <a:ln xmlns:a="http://schemas.openxmlformats.org/drawingml/2006/main" w="9525">
            <a:solidFill>
              <a:srgbClr val="244F7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2DF489-1FB7-45C3-B24E-9008564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150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5BC051-AAA6-4439-9423-00C9B81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1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Recibe información</a:t>
            </a:r>
          </a:p>
        </p:txBody>
      </p:sp>
    </p:spTree>
    <p:extLst>
      <p:ext uri="{BB962C8B-B14F-4D97-AF65-F5344CB8AC3E}">
        <p14:creationId xmlns:p14="http://schemas.microsoft.com/office/powerpoint/2010/main" val="1295905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-12">
            <a:extLst xmlns:a="http://schemas.openxmlformats.org/drawingml/2006/main">
              <a:ext uri="{FF2B5EF4-FFF2-40B4-BE49-F238E27FC236}">
                <a16:creationId xmlns:a16="http://schemas.microsoft.com/office/drawing/2014/main" id="{7865DD9C-F67B-46E5-801B-A2B5605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SISTEMA DE DESEMPEÑO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E3FF03A-D98F-47EA-B29D-CA78BF7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Un tablero ejecutivo que mide resultado, causa y respuesta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AF6C4-2AD8-42F6-A048-BF6049A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A0371-0C60-4D71-8D1A-BE036CB6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D4D8-AA33-4677-A732-8FD0471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D566A-4915-4FDC-9364-07D6EE3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F5E6-97DF-46D1-88B2-55AD10F9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8BA3-34F0-4BB8-9EFC-44CBC17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D6FB7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D6FB7"/>
                </a:solidFill>
                <a:latin typeface="Georgia"/>
                <a:ea typeface="Georgia"/>
                <a:cs typeface="Georgia"/>
              </a:rPr>
              <a:t>≥ 98%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CC487-450F-4048-94C7-B789CD5D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On Time Shipping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10B32-4B37-4559-8945-B21CEA6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E5D1D-AE6A-47BC-AB88-17E17E9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DIARIA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CCD07-46EA-4F50-9D29-D66E6CA4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ED5D8-346F-4A2F-ACE1-11318966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7C30D-3765-49D2-8D21-EDD8AE4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C8A6D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C8A6D"/>
                </a:solidFill>
                <a:latin typeface="Georgia"/>
                <a:ea typeface="Georgia"/>
                <a:cs typeface="Georgia"/>
              </a:rPr>
              <a:t>≥ 98%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E337A-D9FC-4668-BF8C-8A238187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Fill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97573-212C-45EC-9A6E-E28353D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89791-22CD-434B-B3A4-CACCDE7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432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DIARIA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FC2B0-97F1-4276-87AE-729C9991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433B1-037C-4554-B8CD-F31C582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96A71-91BD-4F1E-9F13-53DEBC7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38A3D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B38A3D"/>
                </a:solidFill>
                <a:latin typeface="Georgia"/>
                <a:ea typeface="Georgia"/>
                <a:cs typeface="Georgia"/>
              </a:rPr>
              <a:t>≥ 99.5%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D1B01-585C-41AE-BFF6-0B4DCEF9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Exactitud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AD8E-F4EB-4EE7-B3D0-4036339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1C357-E548-4638-A679-A4DD0D9C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432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SEMANAL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A9683-994A-4C37-99E9-7C5BC8A4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7A7F7-4FFA-46BA-BD3B-B231379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3620B-4AA9-418D-A79F-314C7174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78B2A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C78B2A"/>
                </a:solidFill>
                <a:latin typeface="Georgia"/>
                <a:ea typeface="Georgia"/>
                <a:cs typeface="Georgia"/>
              </a:rPr>
              <a:t>≤ estándar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299FD-1843-4724-A9AB-498B935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Dock-to-stock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8A09A-4EC4-424A-9622-AA499C88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32439-9541-49BD-AF48-D2A0BC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POR RECEPCIÓN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0CCAC-8C6F-4FEA-80CB-4AABAE74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CAF66-60FB-4F9A-AFE3-7848CE3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B7CAA-045B-418B-8F28-71828D8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4F76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44F76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764A1-62BE-4F53-9E7A-D7417E4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Conciliación racks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DDED1-640A-4A6F-8BEC-B6A11148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863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AEF09-9A47-44EC-82C9-7AE0CC8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529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DIARIA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2A0B79-2C2B-486A-949D-425F57E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4861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4761AD-70D6-46A0-86C6-AB10121E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486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337E3-EAE3-4EAE-9CAA-0298BFDB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64A4A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B64A4A"/>
                </a:solidFill>
                <a:latin typeface="Georgia"/>
                <a:ea typeface="Georgia"/>
                <a:cs typeface="Georgia"/>
              </a:rPr>
              <a:t>≥ 95%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7C0CF-3A0C-43E0-9A9A-8FDAC40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Cierre hallazgos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8A2CC5-00E5-40AA-A7A7-12EA4574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863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5D6"/>
          </a:solidFill>
          <a:ln xmlns:a="http://schemas.openxmlformats.org/drawingml/2006/main" w="9525">
            <a:solidFill>
              <a:srgbClr val="EDE5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2B457C-D9AA-4A65-9E8D-5D1A33C8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529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D294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D2944"/>
                </a:solidFill>
                <a:latin typeface="Aptos"/>
                <a:ea typeface="Aptos"/>
                <a:cs typeface="Aptos"/>
              </a:rPr>
              <a:t>SEMANAL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64E2AE-8F6B-4BDD-8B9F-22178BC8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DC266-64FC-45A4-B088-275D6BBE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Cadencia: equipo diario → gerencia semanal → Dirección mensual</a:t>
            </a:r>
          </a:p>
        </p:txBody>
      </p:sp>
    </p:spTree>
    <p:extLst>
      <p:ext uri="{BB962C8B-B14F-4D97-AF65-F5344CB8AC3E}">
        <p14:creationId xmlns:p14="http://schemas.microsoft.com/office/powerpoint/2010/main" val="1971806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13">
            <a:extLst xmlns:a="http://schemas.openxmlformats.org/drawingml/2006/main">
              <a:ext uri="{FF2B5EF4-FFF2-40B4-BE49-F238E27FC236}">
                <a16:creationId xmlns:a16="http://schemas.microsoft.com/office/drawing/2014/main" id="{F31E60E5-64D4-4282-AE32-DB1B3CE5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ROADMAP DE IMPLEMENTACIÓN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3D78D16-A394-4746-9D12-9EBAD162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D2944"/>
                </a:solidFill>
                <a:latin typeface="Georgia"/>
                <a:ea typeface="Georgia"/>
                <a:cs typeface="Georgia"/>
              </a:rPr>
              <a:t>Tres puertas de control para habilitar BES en 90 días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E2FC3-542C-42AE-A272-619EABC8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10F20-07E3-4B69-BA94-A1C0849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BES v2.0 · Propuesta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4D844-AA35-4BB8-AEB1-77223B26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Documento controlado ·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D4274-22DF-45CD-BA65-2571A43D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86150" cy="3067050"/>
          </a:xfrm>
          <a:prstGeom xmlns:a="http://schemas.openxmlformats.org/drawingml/2006/main" prst="roundRect">
            <a:avLst>
              <a:gd name="adj" fmla="val 6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E9C8-D9B2-4163-B7A7-4CD3ADF8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861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5DCE5-1B8E-413C-B72D-796D5DA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0–30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050B-09E1-4F59-BA0D-FCB17845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19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GOBIERNO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3FA55-22A1-409D-9743-49AACE9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Aprobar arquitectura, dueños, RACI, índice y backlog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6086F-817D-497A-A367-934416B7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5C90F-E3C4-40F1-8644-BCBAB0F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38A3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38A3D"/>
                </a:solidFill>
                <a:latin typeface="Aptos"/>
                <a:ea typeface="Aptos"/>
                <a:cs typeface="Aptos"/>
              </a:rPr>
              <a:t>PUERTA DE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F9D23-7106-44B0-B725-FBF8213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Dirección aprueba alcance y cadencia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E6EC2-39C1-4B45-8441-35263471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486150" cy="3067050"/>
          </a:xfrm>
          <a:prstGeom xmlns:a="http://schemas.openxmlformats.org/drawingml/2006/main" prst="roundRect">
            <a:avLst>
              <a:gd name="adj" fmla="val 6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52CDC-9CD5-41EA-BCE8-EB38B56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4861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D6FB7"/>
          </a:solidFill>
          <a:ln xmlns:a="http://schemas.openxmlformats.org/drawingml/2006/main" w="9525">
            <a:solidFill>
              <a:srgbClr val="2D6F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8E90D-C686-4CAA-B65C-B4F12FC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31–60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2105D-08D9-4103-923D-B356DBE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19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192FF-9FFB-44DB-82A4-0275200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Liberar SOP/WI, matriz Odoo-RACKS, tableros y formación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4106D-DE33-429D-B03D-9EA1ADA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ECFEF-6F9C-499A-BCA2-FD00F7D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148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6FB7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D6FB7"/>
                </a:solidFill>
                <a:latin typeface="Aptos"/>
                <a:ea typeface="Aptos"/>
                <a:cs typeface="Aptos"/>
              </a:rPr>
              <a:t>PUERTA DE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B26C6-5D99-4632-B610-6CBF355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Gerencias validan evidencia y capacidad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3C8DE-811B-4610-9C90-3A899777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486150" cy="3067050"/>
          </a:xfrm>
          <a:prstGeom xmlns:a="http://schemas.openxmlformats.org/drawingml/2006/main" prst="roundRect">
            <a:avLst>
              <a:gd name="adj" fmla="val 6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4B561-FC87-4E33-B262-E1BE9D12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4861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C8A6D"/>
          </a:solidFill>
          <a:ln xmlns:a="http://schemas.openxmlformats.org/drawingml/2006/main" w="9525">
            <a:solidFill>
              <a:srgbClr val="2C8A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EA4C9-C24F-4186-9D22-6506D86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61–90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7964F-E9F3-4824-8610-DE658DE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19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ESCALA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10F2A-F47A-4BA5-8B50-B03F58C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Auditar, cerrar brechas, certificar y estandarizar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1A1B7-B7C9-4C60-8255-D21C358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6952C-5EB1-4E72-B651-A86B7F4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C8A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2C8A6D"/>
                </a:solidFill>
                <a:latin typeface="Aptos"/>
                <a:ea typeface="Aptos"/>
                <a:cs typeface="Aptos"/>
              </a:rPr>
              <a:t>PUERTA DE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9D7E7-0F31-4BB9-BF13-9C2B5CF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87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57487"/>
                </a:solidFill>
                <a:latin typeface="Aptos"/>
                <a:ea typeface="Aptos"/>
                <a:cs typeface="Aptos"/>
              </a:rPr>
              <a:t>Dirección autoriza la siguiente ola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53348-7DDB-4CAF-8D80-E470371F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118FB-E88F-4273-9A6C-8DCE7FFF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6B673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6B673"/>
                </a:solidFill>
                <a:latin typeface="Aptos"/>
                <a:ea typeface="Aptos"/>
                <a:cs typeface="Aptos"/>
              </a:rPr>
              <a:t>DECISIÓN SOLICITADA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EECAE-D849-47B9-84A9-A2370986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Aprobar BES v2.0, designar propietarios de pilar y autorizar la primera ola 0–30 días.</a:t>
            </a:r>
          </a:p>
        </p:txBody>
      </p:sp>
    </p:spTree>
    <p:extLst>
      <p:ext uri="{BB962C8B-B14F-4D97-AF65-F5344CB8AC3E}">
        <p14:creationId xmlns:p14="http://schemas.microsoft.com/office/powerpoint/2010/main" val="1101108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9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5add203b74537"/>
          <a:srcRect xmlns:a="http://schemas.openxmlformats.org/drawingml/2006/main" l="0" t="7867" r="0" b="7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5C4BE-A1A6-43F8-BBD2-0DDC2A1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0D29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B6D47-5FF6-4D8A-A3E0-2BDAC5D1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86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E4D80-EC23-49BC-8906-0E470461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953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 EJECUTIVO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49DDE-E073-437A-89C1-DA2F07D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 arquitectura está lista.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 siguiente decisión es activarla.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2EF44-9CE4-4B6F-8315-944149C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7F055-919C-4D43-BF97-175183DC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4E989-1500-4090-8139-20210EF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Aprobar BES v2.0 como arquitectura rectora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A53B3-C7DF-4CCB-A6C8-CE5DAF6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EE254-3908-447E-A75D-6A6C8E1B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290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375FC-0B90-448A-ACF6-E5DCBEF3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00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Nombrar propietarios de los 14 pilares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94DE7-8942-43F6-A6FD-64495E39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38A3D"/>
          </a:solidFill>
          <a:ln xmlns:a="http://schemas.openxmlformats.org/drawingml/2006/main" w="9525">
            <a:solidFill>
              <a:srgbClr val="B38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57C59-3727-4831-971D-82F7B00E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33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52EFD-C2BD-4F50-A741-C6ED808E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148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E2E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7E2EC"/>
                </a:solidFill>
                <a:latin typeface="Aptos"/>
                <a:ea typeface="Aptos"/>
                <a:cs typeface="Aptos"/>
              </a:rPr>
              <a:t>Iniciar gobierno 0–30 días y revisión mensual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4933D-EC4D-4EF4-BA91-5A8748DF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98C4C-ED5F-45B0-899A-F6E648C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D6B673"/>
                </a:solidFill>
                <a:latin typeface="Georgia"/>
                <a:ea typeface="Georgia"/>
                <a:cs typeface="Georgia"/>
              </a:defRPr>
            </a:pPr>
            <a:r>
              <a:rPr sz="1500" b="1" i="1">
                <a:solidFill>
                  <a:srgbClr val="D6B673"/>
                </a:solidFill>
                <a:latin typeface="Georgia"/>
                <a:ea typeface="Georgia"/>
                <a:cs typeface="Georgia"/>
              </a:rPr>
              <a:t>Los procesos construyen resultados;</a:t>
            </a:r>
          </a:p>
          <a:p xmlns:a="http://schemas.openxmlformats.org/drawingml/2006/main">
            <a:pPr algn="l">
              <a:defRPr sz="1500" b="1" i="1">
                <a:solidFill>
                  <a:srgbClr val="D6B673"/>
                </a:solidFill>
                <a:latin typeface="Georgia"/>
                <a:ea typeface="Georgia"/>
                <a:cs typeface="Georgia"/>
              </a:defRPr>
            </a:pPr>
            <a:r>
              <a:rPr sz="1500" b="1" i="1">
                <a:solidFill>
                  <a:srgbClr val="D6B673"/>
                </a:solidFill>
                <a:latin typeface="Georgia"/>
                <a:ea typeface="Georgia"/>
                <a:cs typeface="Georgia"/>
              </a:rPr>
              <a:t>las personas construyen el futuro.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8FF74-652A-4D39-867B-32A72F33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960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FC0D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AFC0D0"/>
                </a:solidFill>
                <a:latin typeface="Aptos"/>
                <a:ea typeface="Aptos"/>
                <a:cs typeface="Aptos"/>
              </a:rPr>
              <a:t>BLOS ENTERPRISE SYSTEM · BEST LINEN</a:t>
            </a:r>
          </a:p>
        </p:txBody>
      </p:sp>
    </p:spTree>
    <p:extLst>
      <p:ext uri="{BB962C8B-B14F-4D97-AF65-F5344CB8AC3E}">
        <p14:creationId xmlns:p14="http://schemas.microsoft.com/office/powerpoint/2010/main" val="476815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2026-08-11T07:22:39.5710000Z</dcterms:created>
  <dcterms:modified xsi:type="dcterms:W3CDTF">2026-08-11T07:22:39.5710000Z</dcterms:modified>
</coreProperties>
</file>
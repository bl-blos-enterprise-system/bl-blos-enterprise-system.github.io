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022c04292934b28" /><Relationship Type="http://schemas.openxmlformats.org/officeDocument/2006/relationships/extended-properties" Target="/docProps/app.xml" Id="Raf76bea3a6074059" /><Relationship Type="http://schemas.openxmlformats.org/officeDocument/2006/relationships/officeDocument" Target="/ppt/presentation.xml" Id="R423254903a9e485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35c75f99fe64d8c"/>
  </p:sldMasterIdLst>
  <p:notesMasterIdLst>
    <p:notesMasterId xmlns:r="http://schemas.openxmlformats.org/officeDocument/2006/relationships" r:id="R719e36e355a345c4"/>
  </p:notesMasterIdLst>
  <p:sldIdLst>
    <p:sldId xmlns:r="http://schemas.openxmlformats.org/officeDocument/2006/relationships" id="256" r:id="R8dda29d748084845"/>
    <p:sldId xmlns:r="http://schemas.openxmlformats.org/officeDocument/2006/relationships" id="257" r:id="Rdfd7eb274fef41cb"/>
    <p:sldId xmlns:r="http://schemas.openxmlformats.org/officeDocument/2006/relationships" id="258" r:id="R362b8dc0d0dc46c0"/>
    <p:sldId xmlns:r="http://schemas.openxmlformats.org/officeDocument/2006/relationships" id="259" r:id="Rfd9102c8c971443f"/>
    <p:sldId xmlns:r="http://schemas.openxmlformats.org/officeDocument/2006/relationships" id="260" r:id="Rba57e243d5574daf"/>
    <p:sldId xmlns:r="http://schemas.openxmlformats.org/officeDocument/2006/relationships" id="261" r:id="R71570f24d9364b8e"/>
    <p:sldId xmlns:r="http://schemas.openxmlformats.org/officeDocument/2006/relationships" id="262" r:id="Rb03125938de44b87"/>
    <p:sldId xmlns:r="http://schemas.openxmlformats.org/officeDocument/2006/relationships" id="263" r:id="R13952f16a4574aa4"/>
    <p:sldId xmlns:r="http://schemas.openxmlformats.org/officeDocument/2006/relationships" id="264" r:id="R4bdae9db44bf4c0c"/>
    <p:sldId xmlns:r="http://schemas.openxmlformats.org/officeDocument/2006/relationships" id="265" r:id="Rbd6f9c62fa774add"/>
    <p:sldId xmlns:r="http://schemas.openxmlformats.org/officeDocument/2006/relationships" id="266" r:id="R80b2d49cf641467a"/>
    <p:sldId xmlns:r="http://schemas.openxmlformats.org/officeDocument/2006/relationships" id="267" r:id="Rf4eba088490c4dd3"/>
    <p:sldId xmlns:r="http://schemas.openxmlformats.org/officeDocument/2006/relationships" id="268" r:id="R6245794f27c848cc"/>
    <p:sldId xmlns:r="http://schemas.openxmlformats.org/officeDocument/2006/relationships" id="269" r:id="R2bb6dcbea77e447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922b04041824ec6" /><Relationship Type="http://schemas.openxmlformats.org/officeDocument/2006/relationships/slideMaster" Target="/ppt/slideMasters/slideMaster1.xml" Id="R335c75f99fe64d8c" /><Relationship Type="http://schemas.openxmlformats.org/officeDocument/2006/relationships/notesMaster" Target="/ppt/notesMasters/notesMaster1.xml" Id="R719e36e355a345c4" /><Relationship Type="http://schemas.openxmlformats.org/officeDocument/2006/relationships/presProps" Target="/ppt/presProps.xml" Id="Rd97ab526e5b9478b" /><Relationship Type="http://schemas.openxmlformats.org/officeDocument/2006/relationships/tableStyles" Target="/ppt/tableStyles.xml" Id="R2a4305ef7ed64755" /><Relationship Type="http://schemas.openxmlformats.org/officeDocument/2006/relationships/slide" Target="/ppt/slides/slide1.xml" Id="R8dda29d748084845" /><Relationship Type="http://schemas.openxmlformats.org/officeDocument/2006/relationships/slide" Target="/ppt/slides/slide2.xml" Id="Rdfd7eb274fef41cb" /><Relationship Type="http://schemas.openxmlformats.org/officeDocument/2006/relationships/slide" Target="/ppt/slides/slide3.xml" Id="R362b8dc0d0dc46c0" /><Relationship Type="http://schemas.openxmlformats.org/officeDocument/2006/relationships/slide" Target="/ppt/slides/slide4.xml" Id="Rfd9102c8c971443f" /><Relationship Type="http://schemas.openxmlformats.org/officeDocument/2006/relationships/slide" Target="/ppt/slides/slide5.xml" Id="Rba57e243d5574daf" /><Relationship Type="http://schemas.openxmlformats.org/officeDocument/2006/relationships/slide" Target="/ppt/slides/slide6.xml" Id="R71570f24d9364b8e" /><Relationship Type="http://schemas.openxmlformats.org/officeDocument/2006/relationships/slide" Target="/ppt/slides/slide7.xml" Id="Rb03125938de44b87" /><Relationship Type="http://schemas.openxmlformats.org/officeDocument/2006/relationships/slide" Target="/ppt/slides/slide8.xml" Id="R13952f16a4574aa4" /><Relationship Type="http://schemas.openxmlformats.org/officeDocument/2006/relationships/slide" Target="/ppt/slides/slide9.xml" Id="R4bdae9db44bf4c0c" /><Relationship Type="http://schemas.openxmlformats.org/officeDocument/2006/relationships/slide" Target="/ppt/slides/slide10.xml" Id="Rbd6f9c62fa774add" /><Relationship Type="http://schemas.openxmlformats.org/officeDocument/2006/relationships/slide" Target="/ppt/slides/slide11.xml" Id="R80b2d49cf641467a" /><Relationship Type="http://schemas.openxmlformats.org/officeDocument/2006/relationships/slide" Target="/ppt/slides/slide12.xml" Id="Rf4eba088490c4dd3" /><Relationship Type="http://schemas.openxmlformats.org/officeDocument/2006/relationships/slide" Target="/ppt/slides/slide13.xml" Id="R6245794f27c848cc" /><Relationship Type="http://schemas.openxmlformats.org/officeDocument/2006/relationships/slide" Target="/ppt/slides/slide14.xml" Id="R2bb6dcbea77e447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65ba916c193498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1d62383c9834200" /><Relationship Type="http://schemas.openxmlformats.org/officeDocument/2006/relationships/notesMaster" Target="/ppt/notesMasters/notesMaster1.xml" Id="Rf9baa08ad1944e3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ecf6fa69c45464b" /><Relationship Type="http://schemas.openxmlformats.org/officeDocument/2006/relationships/notesMaster" Target="/ppt/notesMasters/notesMaster1.xml" Id="R1817e4050b0242d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a36e10905304474" /><Relationship Type="http://schemas.openxmlformats.org/officeDocument/2006/relationships/notesMaster" Target="/ppt/notesMasters/notesMaster1.xml" Id="Rdc124e931b0848f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82c164e580c4fd5" /><Relationship Type="http://schemas.openxmlformats.org/officeDocument/2006/relationships/notesMaster" Target="/ppt/notesMasters/notesMaster1.xml" Id="R0b18e920e775429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e7c24e5c2d443b6" /><Relationship Type="http://schemas.openxmlformats.org/officeDocument/2006/relationships/notesMaster" Target="/ppt/notesMasters/notesMaster1.xml" Id="R1f035169e3fb4a4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2d88cb9dd41425b" /><Relationship Type="http://schemas.openxmlformats.org/officeDocument/2006/relationships/notesMaster" Target="/ppt/notesMasters/notesMaster1.xml" Id="R82ae31aa16514cc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0bf84807b64448b" /><Relationship Type="http://schemas.openxmlformats.org/officeDocument/2006/relationships/notesMaster" Target="/ppt/notesMasters/notesMaster1.xml" Id="R3d0e27570760456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cbd2a9223ee44a9" /><Relationship Type="http://schemas.openxmlformats.org/officeDocument/2006/relationships/notesMaster" Target="/ppt/notesMasters/notesMaster1.xml" Id="R288837b0a20c423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aa2b62a2e924b70" /><Relationship Type="http://schemas.openxmlformats.org/officeDocument/2006/relationships/notesMaster" Target="/ppt/notesMasters/notesMaster1.xml" Id="Rbdcb981daf1b41d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7637d8315434aa3" /><Relationship Type="http://schemas.openxmlformats.org/officeDocument/2006/relationships/notesMaster" Target="/ppt/notesMasters/notesMaster1.xml" Id="R11103693eab4442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bdf104097d14453" /><Relationship Type="http://schemas.openxmlformats.org/officeDocument/2006/relationships/notesMaster" Target="/ppt/notesMasters/notesMaster1.xml" Id="R91567811e29044f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a27ef1a4f0d458b" /><Relationship Type="http://schemas.openxmlformats.org/officeDocument/2006/relationships/notesMaster" Target="/ppt/notesMasters/notesMaster1.xml" Id="Rdb6bde01a8224ff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bc6073fd62f4e59" /><Relationship Type="http://schemas.openxmlformats.org/officeDocument/2006/relationships/notesMaster" Target="/ppt/notesMasters/notesMaster1.xml" Id="Rc7db3dc1f17c4f7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aa472c5528e4108" /><Relationship Type="http://schemas.openxmlformats.org/officeDocument/2006/relationships/notesMaster" Target="/ppt/notesMasters/notesMaster1.xml" Id="R223acf0a97ce43d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b666e5411f482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227cac7c90c466a" /><Relationship Type="http://schemas.openxmlformats.org/officeDocument/2006/relationships/slideLayout" Target="/ppt/slideLayouts/slideLayout1.xml" Id="R6fdac3676adf40c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fdac3676adf40c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f9acbcc40d4d9b" /><Relationship Type="http://schemas.openxmlformats.org/officeDocument/2006/relationships/image" Target="/ppt/media/image.jpeg" Id="R42d55ad80af74ed4" /><Relationship Type="http://schemas.openxmlformats.org/officeDocument/2006/relationships/notesSlide" Target="/ppt/notesSlides/notesSlide1.xml" Id="Re2696f26cc3d440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dd4a31fc044320" /><Relationship Type="http://schemas.openxmlformats.org/officeDocument/2006/relationships/notesSlide" Target="/ppt/notesSlides/notesSlide2.xml" Id="R7987c5ab220a46a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ad175d0e1f4c75" /><Relationship Type="http://schemas.openxmlformats.org/officeDocument/2006/relationships/notesSlide" Target="/ppt/notesSlides/notesSlide3.xml" Id="R0ac3fef7487a4d8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25ee15112b4fc9" /><Relationship Type="http://schemas.openxmlformats.org/officeDocument/2006/relationships/notesSlide" Target="/ppt/notesSlides/notesSlide4.xml" Id="Rcfa589a37045443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b63d0be3944b48" /><Relationship Type="http://schemas.openxmlformats.org/officeDocument/2006/relationships/notesSlide" Target="/ppt/notesSlides/notesSlide5.xml" Id="R55a106cf1deb466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d5244c9f3c4624" /><Relationship Type="http://schemas.openxmlformats.org/officeDocument/2006/relationships/notesSlide" Target="/ppt/notesSlides/notesSlide6.xml" Id="R0a8f5858be34466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f68219353d414c" /><Relationship Type="http://schemas.openxmlformats.org/officeDocument/2006/relationships/notesSlide" Target="/ppt/notesSlides/notesSlide7.xml" Id="R9e8aa7d07152487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4d58565a5f4ba7" /><Relationship Type="http://schemas.openxmlformats.org/officeDocument/2006/relationships/notesSlide" Target="/ppt/notesSlides/notesSlide8.xml" Id="Rb048067d0183420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29cd36594a4826" /><Relationship Type="http://schemas.openxmlformats.org/officeDocument/2006/relationships/notesSlide" Target="/ppt/notesSlides/notesSlide9.xml" Id="R0459e61425b744f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c4da5ff1214df0" /><Relationship Type="http://schemas.openxmlformats.org/officeDocument/2006/relationships/notesSlide" Target="/ppt/notesSlides/notesSlide10.xml" Id="R8c4dff1c631e4e9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a4582721a84e4b" /><Relationship Type="http://schemas.openxmlformats.org/officeDocument/2006/relationships/notesSlide" Target="/ppt/notesSlides/notesSlide11.xml" Id="Rc2e97decd0da472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1c5ce95a524825" /><Relationship Type="http://schemas.openxmlformats.org/officeDocument/2006/relationships/notesSlide" Target="/ppt/notesSlides/notesSlide12.xml" Id="R2650a27d0c364bd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06ca6844a840e2" /><Relationship Type="http://schemas.openxmlformats.org/officeDocument/2006/relationships/notesSlide" Target="/ppt/notesSlides/notesSlide13.xml" Id="R56cec7bf3472493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051c0ed39744b0" /><Relationship Type="http://schemas.openxmlformats.org/officeDocument/2006/relationships/image" Target="/ppt/media/image.png" Id="R8a0a7f2fb00a4c01" /><Relationship Type="http://schemas.openxmlformats.org/officeDocument/2006/relationships/notesSlide" Target="/ppt/notesSlides/notesSlide14.xml" Id="Re6d0decc8d78433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D294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d55ad80af74ed4"/>
          <a:srcRect xmlns:a="http://schemas.openxmlformats.org/drawingml/2006/main" l="1023" t="0" r="102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15250" y="0"/>
            <a:ext cx="447675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00CFA1-7B5D-4B2B-ABA7-19EAA1AD5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905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9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5332F3-9349-4D18-9BD7-944FD4CD9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2450"/>
            <a:ext cx="30480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38A3D"/>
          </a:solidFill>
          <a:ln xmlns:a="http://schemas.openxmlformats.org/drawingml/2006/main" w="9525">
            <a:solidFill>
              <a:srgbClr val="B38A3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E8B411-F996-4290-9C53-D5061001F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PRESENTACIÓN PARA DIRECCIÓN GENERAL</a:t>
            </a:r>
          </a:p>
        </p:txBody>
      </p:sp>
      <p:sp>
        <p:nvSpPr>
          <p:cNvPr id="5" name="cover-title">
            <a:extLst xmlns:a="http://schemas.openxmlformats.org/drawingml/2006/main">
              <a:ext uri="{FF2B5EF4-FFF2-40B4-BE49-F238E27FC236}">
                <a16:creationId xmlns:a16="http://schemas.microsoft.com/office/drawing/2014/main" id="{5221114D-A03B-4DD9-9D27-BBE42E8AD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61912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435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BLOS</a:t>
            </a:r>
          </a:p>
          <a:p xmlns:a="http://schemas.openxmlformats.org/drawingml/2006/main">
            <a:pPr algn="l">
              <a:defRPr sz="435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435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Enterprise System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34F7FA-55DD-47D8-8276-399E87068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5810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D6B673"/>
                </a:solidFill>
                <a:latin typeface="Aptos"/>
                <a:ea typeface="Aptos"/>
                <a:cs typeface="Aptos"/>
              </a:defRPr>
            </a:pPr>
            <a:r>
              <a:rPr sz="1950" b="1" i="0">
                <a:solidFill>
                  <a:srgbClr val="D6B673"/>
                </a:solidFill>
                <a:latin typeface="Aptos"/>
                <a:ea typeface="Aptos"/>
                <a:cs typeface="Aptos"/>
              </a:rPr>
              <a:t>Arquitectura organizacional y operativa BES v2.0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ADEE24-3F94-4803-BD41-C4E9A6291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6191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C9D4DF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C9D4DF"/>
                </a:solidFill>
                <a:latin typeface="Aptos"/>
                <a:ea typeface="Aptos"/>
                <a:cs typeface="Aptos"/>
              </a:rPr>
              <a:t>Gobierno · Personas · Procesos · Información · Tecnología · Mejora Continua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28093C-69B7-4287-99D1-F656CF657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1143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8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C1142B-A743-45E2-ACF5-27659700A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6191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1350" b="1" i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No estamos documentando una empresa.</a:t>
            </a:r>
          </a:p>
          <a:p xmlns:a="http://schemas.openxmlformats.org/drawingml/2006/main">
            <a:pPr algn="l">
              <a:defRPr sz="1350" b="1" i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1350" b="1" i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Estamos diseñando la empresa que Best Linen quiere llegar a ser.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8BD50A-1E45-44D0-8069-CFD36BEEF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D6B673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D6B673"/>
                </a:solidFill>
                <a:latin typeface="Aptos"/>
                <a:ea typeface="Aptos"/>
                <a:cs typeface="Aptos"/>
              </a:rPr>
              <a:t>11 AGO 2026  ·  DOCUMENTO CONTROLADO</a:t>
            </a:r>
          </a:p>
        </p:txBody>
      </p:sp>
    </p:spTree>
    <p:extLst>
      <p:ext uri="{BB962C8B-B14F-4D97-AF65-F5344CB8AC3E}">
        <p14:creationId xmlns:p14="http://schemas.microsoft.com/office/powerpoint/2010/main" val="123060352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eyebrow-2">
            <a:extLst xmlns:a="http://schemas.openxmlformats.org/drawingml/2006/main">
              <a:ext uri="{FF2B5EF4-FFF2-40B4-BE49-F238E27FC236}">
                <a16:creationId xmlns:a16="http://schemas.microsoft.com/office/drawing/2014/main" id="{33DD5C9A-85E3-431D-BF34-49B861868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CASO EJECUTIVO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0D2D2703-87CC-4996-AAE0-57050A418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990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D2944"/>
                </a:solidFill>
                <a:latin typeface="Georgia"/>
                <a:ea typeface="Georgia"/>
                <a:cs typeface="Georgia"/>
              </a:defRPr>
            </a:pPr>
            <a:r>
              <a:rPr sz="2550" b="1" i="0">
                <a:solidFill>
                  <a:srgbClr val="0D2944"/>
                </a:solidFill>
                <a:latin typeface="Georgia"/>
                <a:ea typeface="Georgia"/>
                <a:cs typeface="Georgia"/>
              </a:rPr>
              <a:t>De documentos dispersos a un sistema gobernado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B527DA-0DEE-474D-9F20-4D039D5DE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8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6447E6-24A9-4F02-B600-54D5239D9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BES v2.0 · Aprobado y liberado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3D018B-4C23-4BA3-85BC-EEE431FF1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524625"/>
            <a:ext cx="3009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Documento controlado · 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1EBA5B-7102-459C-A8AE-B3E9109FA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43100" cy="203835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25DA52-6CA5-45FA-9E78-06B87D681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7A80CC-F4AF-4F51-A2B9-A835BB7DC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09850"/>
            <a:ext cx="1562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0D2944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D2944"/>
                </a:solidFill>
                <a:latin typeface="Aptos"/>
                <a:ea typeface="Aptos"/>
                <a:cs typeface="Aptos"/>
              </a:rPr>
              <a:t>ESTRATEGIA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9299C6-79DD-4E0C-A574-257C0238A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86100"/>
            <a:ext cx="1562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Decisiones y prioridades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684546-0722-41F7-AAB3-09782D00F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790700"/>
            <a:ext cx="1943100" cy="203835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54C7C2-70C7-4B58-BC46-EA1AE64D0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00025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698A96-B001-41EF-A2C2-330234A06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609850"/>
            <a:ext cx="1562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0D2944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D2944"/>
                </a:solidFill>
                <a:latin typeface="Aptos"/>
                <a:ea typeface="Aptos"/>
                <a:cs typeface="Aptos"/>
              </a:rPr>
              <a:t>PROCESOS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B4780E-C55D-4E08-89AB-78CE6AAF4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086100"/>
            <a:ext cx="1562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Flujos punta a punta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A6CA37-39E0-4D0A-9B03-612521F84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790700"/>
            <a:ext cx="1943100" cy="203835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639424-9F6A-4432-9F75-12D2EC811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00025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EE2673-4978-4AF0-A4A0-121575C4D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09850"/>
            <a:ext cx="1562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0D2944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D2944"/>
                </a:solidFill>
                <a:latin typeface="Aptos"/>
                <a:ea typeface="Aptos"/>
                <a:cs typeface="Aptos"/>
              </a:rPr>
              <a:t>PERSONAS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8830CC-C270-41B3-BCC3-639717CFE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086100"/>
            <a:ext cx="1562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Roles y competencias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F9561E-55E1-4E21-9B65-ADA231A2E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790700"/>
            <a:ext cx="1943100" cy="203835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53ADC9-F7B7-45C8-8172-D37EE4FEE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00025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C0895D-BDA5-424B-96B8-539222072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09850"/>
            <a:ext cx="1562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0D2944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D2944"/>
                </a:solidFill>
                <a:latin typeface="Aptos"/>
                <a:ea typeface="Aptos"/>
                <a:cs typeface="Aptos"/>
              </a:rPr>
              <a:t>INFORMACIÓN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458879-2525-4ACE-878F-17933FA13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086100"/>
            <a:ext cx="1562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Maestros y evidencia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B7E9C9-24CE-45C8-9354-ED2DA7B40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790700"/>
            <a:ext cx="1943100" cy="203835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0D2944"/>
          </a:solidFill>
          <a:ln xmlns:a="http://schemas.openxmlformats.org/drawingml/2006/main" w="9525">
            <a:solidFill>
              <a:srgbClr val="0D294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C52AA3-DD9E-4461-89E9-9512DD6D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00025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D6B673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D6B673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7B11F6D-7DDE-45E5-8C3A-05F945E25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609850"/>
            <a:ext cx="1562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TECNOLOGÍA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7D1B92-312B-4478-9881-84467EF96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086100"/>
            <a:ext cx="1562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C7D4E0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C7D4E0"/>
                </a:solidFill>
                <a:latin typeface="Aptos"/>
                <a:ea typeface="Aptos"/>
                <a:cs typeface="Aptos"/>
              </a:rPr>
              <a:t>Odoo, BL RACKS y BI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621DAFD-6276-4B4C-A783-E529D71C4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EDE5D6"/>
          </a:solidFill>
          <a:ln xmlns:a="http://schemas.openxmlformats.org/drawingml/2006/main" w="9525">
            <a:solidFill>
              <a:srgbClr val="D6B67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656BF45-083A-4BA2-86F9-CF43F031B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57700"/>
            <a:ext cx="704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052"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0D2944"/>
                </a:solidFill>
                <a:latin typeface="Georgia"/>
                <a:ea typeface="Georgia"/>
                <a:cs typeface="Georgia"/>
              </a:defRPr>
            </a:pPr>
            <a:r>
              <a:rPr sz="1950" b="1" i="0">
                <a:solidFill>
                  <a:srgbClr val="0D2944"/>
                </a:solidFill>
                <a:latin typeface="Georgia"/>
                <a:ea typeface="Georgia"/>
                <a:cs typeface="Georgia"/>
              </a:rPr>
              <a:t>BES integra las cinco capas en una sola arquitectura de ejecución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D21CB8C-0E44-4BD1-AEE8-955565858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10150"/>
            <a:ext cx="981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1200" b="0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Cada decisión deja responsable, versión, sistema, KPI, control y evidencia. La mejora no queda en intención: actualiza el estándar y la competencia.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0FCDC8D-09BB-4814-B33F-70B23133A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476750"/>
            <a:ext cx="30480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C8A6D"/>
          </a:solidFill>
          <a:ln xmlns:a="http://schemas.openxmlformats.org/drawingml/2006/main" w="9525">
            <a:solidFill>
              <a:srgbClr val="2C8A6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F33C180-5FA4-4AD0-B91C-778D7C0B4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543425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RESULTADO: ESCALABILIDAD CON CONTROL</a:t>
            </a:r>
          </a:p>
        </p:txBody>
      </p:sp>
    </p:spTree>
    <p:extLst>
      <p:ext uri="{BB962C8B-B14F-4D97-AF65-F5344CB8AC3E}">
        <p14:creationId xmlns:p14="http://schemas.microsoft.com/office/powerpoint/2010/main" val="88622418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eyebrow-3">
            <a:extLst xmlns:a="http://schemas.openxmlformats.org/drawingml/2006/main">
              <a:ext uri="{FF2B5EF4-FFF2-40B4-BE49-F238E27FC236}">
                <a16:creationId xmlns:a16="http://schemas.microsoft.com/office/drawing/2014/main" id="{A96D26D3-92E2-471F-A541-78014D668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MODELO OPERATIVO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5F331773-56CD-4E87-9091-1082BD45D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990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0D2944"/>
                </a:solidFill>
                <a:latin typeface="Georgia"/>
                <a:ea typeface="Georgia"/>
                <a:cs typeface="Georgia"/>
              </a:defRPr>
            </a:pPr>
            <a:r>
              <a:rPr sz="2250" b="1" i="0">
                <a:solidFill>
                  <a:srgbClr val="0D2944"/>
                </a:solidFill>
                <a:latin typeface="Georgia"/>
                <a:ea typeface="Georgia"/>
                <a:cs typeface="Georgia"/>
              </a:rPr>
              <a:t>Una arquitectura que conecta gobierno, operación y aprendizaje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696D4E-3043-410E-88B0-1FE5378BE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8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2DA253-8130-40D6-9DC9-C784CF268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BES v2.0 · Aprobado y liberado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590318-843B-40A4-8408-11CD350FE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524625"/>
            <a:ext cx="3009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Documento controlado · 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E11669-A9A9-497A-AE1E-B598ECBF3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2514600" cy="2019300"/>
          </a:xfrm>
          <a:prstGeom xmlns:a="http://schemas.openxmlformats.org/drawingml/2006/main" prst="roundRect">
            <a:avLst>
              <a:gd name="adj" fmla="val 84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30CF47-B845-4F8D-A346-CF86DEF04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2514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8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BB49F5-73F0-4BBB-9992-310EE0E1B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981200"/>
            <a:ext cx="342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83C9D3-537F-4E39-BC7E-D79CB2987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1771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CAPA 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5DCFC6-64DD-4E27-A9D0-DF1922500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66950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0D2944"/>
                </a:solidFill>
                <a:latin typeface="Georgia"/>
                <a:ea typeface="Georgia"/>
                <a:cs typeface="Georgia"/>
              </a:defRPr>
            </a:pPr>
            <a:r>
              <a:rPr sz="1500" b="1" i="0">
                <a:solidFill>
                  <a:srgbClr val="0D2944"/>
                </a:solidFill>
                <a:latin typeface="Georgia"/>
                <a:ea typeface="Georgia"/>
                <a:cs typeface="Georgia"/>
              </a:rPr>
              <a:t>GOBERNAR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242679-FFCE-46F7-9436-CBBA02D7A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24150"/>
            <a:ext cx="21336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Dirección y propietarios de pilar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50B56E-6F23-4151-92EF-2AA6AC1DF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590800"/>
            <a:ext cx="209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0C14DC-AFAD-4478-9C34-6E2980F3A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809750"/>
            <a:ext cx="2514600" cy="2019300"/>
          </a:xfrm>
          <a:prstGeom xmlns:a="http://schemas.openxmlformats.org/drawingml/2006/main" prst="roundRect">
            <a:avLst>
              <a:gd name="adj" fmla="val 84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0CEE2B-BEE5-455D-9378-8EC5BE3E4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809750"/>
            <a:ext cx="2514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FB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93A08E-352E-4775-BCA5-E6C1212CD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981200"/>
            <a:ext cx="342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 i="0">
                <a:solidFill>
                  <a:srgbClr val="2D6FB7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2D6FB7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00F25E-4545-4E17-B250-87B03AA3B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000250"/>
            <a:ext cx="1771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2D6FB7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2D6FB7"/>
                </a:solidFill>
                <a:latin typeface="Aptos"/>
                <a:ea typeface="Aptos"/>
                <a:cs typeface="Aptos"/>
              </a:rPr>
              <a:t>CAPA 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C7C122-084D-4A1D-A864-56E074F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266950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0D2944"/>
                </a:solidFill>
                <a:latin typeface="Georgia"/>
                <a:ea typeface="Georgia"/>
                <a:cs typeface="Georgia"/>
              </a:defRPr>
            </a:pPr>
            <a:r>
              <a:rPr sz="1500" b="1" i="0">
                <a:solidFill>
                  <a:srgbClr val="0D2944"/>
                </a:solidFill>
                <a:latin typeface="Georgia"/>
                <a:ea typeface="Georgia"/>
                <a:cs typeface="Georgia"/>
              </a:rPr>
              <a:t>OPERAR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36EFE1-C3FD-4AD4-995F-C6A8CCF2B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724150"/>
            <a:ext cx="21336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Equipos, SOP/WI y sistemas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F3B595-35CC-44FF-A2C1-CAD3F9339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590800"/>
            <a:ext cx="209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1CA1149-EE8D-47C3-B346-4D542B9A1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809750"/>
            <a:ext cx="2514600" cy="2019300"/>
          </a:xfrm>
          <a:prstGeom xmlns:a="http://schemas.openxmlformats.org/drawingml/2006/main" prst="roundRect">
            <a:avLst>
              <a:gd name="adj" fmla="val 84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BD36D7-181A-4CDE-AED9-3557813CB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809750"/>
            <a:ext cx="2514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8A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667B01-9AB3-477F-A65C-DC2DDAA0C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981200"/>
            <a:ext cx="342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 i="0">
                <a:solidFill>
                  <a:srgbClr val="2C8A6D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2C8A6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5C4ADA0-5A35-4C26-916A-4549802E7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00250"/>
            <a:ext cx="1771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2C8A6D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2C8A6D"/>
                </a:solidFill>
                <a:latin typeface="Aptos"/>
                <a:ea typeface="Aptos"/>
                <a:cs typeface="Aptos"/>
              </a:rPr>
              <a:t>CAPA 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712E30D-5825-4B7A-82CB-4B68D42D4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66950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0D2944"/>
                </a:solidFill>
                <a:latin typeface="Georgia"/>
                <a:ea typeface="Georgia"/>
                <a:cs typeface="Georgia"/>
              </a:defRPr>
            </a:pPr>
            <a:r>
              <a:rPr sz="1500" b="1" i="0">
                <a:solidFill>
                  <a:srgbClr val="0D2944"/>
                </a:solidFill>
                <a:latin typeface="Georgia"/>
                <a:ea typeface="Georgia"/>
                <a:cs typeface="Georgia"/>
              </a:rPr>
              <a:t>MEDIR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2EC404B-BD78-41DA-8F2A-8FD903DE5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24150"/>
            <a:ext cx="21336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KPIs, auditoría y evidencia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EE963D-6C5C-40A2-859F-2C5E4C640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590800"/>
            <a:ext cx="209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CB7A51D-9EA5-4A66-9268-0CAFAF364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809750"/>
            <a:ext cx="2514600" cy="2019300"/>
          </a:xfrm>
          <a:prstGeom xmlns:a="http://schemas.openxmlformats.org/drawingml/2006/main" prst="roundRect">
            <a:avLst>
              <a:gd name="adj" fmla="val 84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C727118-A979-49D7-ADE5-CFD2F0FBC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809750"/>
            <a:ext cx="2514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8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9AE3F8A-F754-4FC1-9789-5905F5C79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981200"/>
            <a:ext cx="342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 i="0">
                <a:solidFill>
                  <a:srgbClr val="C78B2A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C78B2A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FB56ABE-F0A3-4ED1-85D4-7F8CA9838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000250"/>
            <a:ext cx="1771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C78B2A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C78B2A"/>
                </a:solidFill>
                <a:latin typeface="Aptos"/>
                <a:ea typeface="Aptos"/>
                <a:cs typeface="Aptos"/>
              </a:rPr>
              <a:t>CAPA 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442C4ED-4C23-4E12-AA23-BCFE09103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266950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0D2944"/>
                </a:solidFill>
                <a:latin typeface="Georgia"/>
                <a:ea typeface="Georgia"/>
                <a:cs typeface="Georgia"/>
              </a:defRPr>
            </a:pPr>
            <a:r>
              <a:rPr sz="1500" b="1" i="0">
                <a:solidFill>
                  <a:srgbClr val="0D2944"/>
                </a:solidFill>
                <a:latin typeface="Georgia"/>
                <a:ea typeface="Georgia"/>
                <a:cs typeface="Georgia"/>
              </a:rPr>
              <a:t>MEJORAR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F246590-C1B4-4338-8810-CA92506F1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724150"/>
            <a:ext cx="21336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A3, CAPA y estandarización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C118D8E-15CA-47EE-8E9E-873599B2D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10972800" cy="1143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0D2944"/>
          </a:solidFill>
          <a:ln xmlns:a="http://schemas.openxmlformats.org/drawingml/2006/main" w="9525">
            <a:solidFill>
              <a:srgbClr val="0D294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F660BD0-E492-4F90-94D9-9F82D0913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72000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D6B673"/>
                </a:solidFill>
                <a:latin typeface="Georgia"/>
                <a:ea typeface="Georgia"/>
                <a:cs typeface="Georgia"/>
              </a:defRPr>
            </a:pPr>
            <a:r>
              <a:rPr sz="1650" b="1" i="0">
                <a:solidFill>
                  <a:srgbClr val="D6B673"/>
                </a:solidFill>
                <a:latin typeface="Georgia"/>
                <a:ea typeface="Georgia"/>
                <a:cs typeface="Georgia"/>
              </a:rPr>
              <a:t>BES CORE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9B8376D-BC3E-4E5F-B49E-C3445F0DF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591050"/>
            <a:ext cx="828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Arquitectura · Datos maestros · Control documental · RACI · Riesgos · Formación · Roadmap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AC73CF9-3AF6-44FB-89DA-0B4A10C68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673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C7D4E0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C7D4E0"/>
                </a:solidFill>
                <a:latin typeface="Aptos"/>
                <a:ea typeface="Aptos"/>
                <a:cs typeface="Aptos"/>
              </a:rPr>
              <a:t>La operación diaria alimenta evidencia; la evidencia alimenta decisiones; las decisiones actualizan el estándar.</a:t>
            </a:r>
          </a:p>
        </p:txBody>
      </p:sp>
    </p:spTree>
    <p:extLst>
      <p:ext uri="{BB962C8B-B14F-4D97-AF65-F5344CB8AC3E}">
        <p14:creationId xmlns:p14="http://schemas.microsoft.com/office/powerpoint/2010/main" val="158820998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eyebrow-4">
            <a:extLst xmlns:a="http://schemas.openxmlformats.org/drawingml/2006/main">
              <a:ext uri="{FF2B5EF4-FFF2-40B4-BE49-F238E27FC236}">
                <a16:creationId xmlns:a16="http://schemas.microsoft.com/office/drawing/2014/main" id="{91362A65-CFFF-47E3-8488-8B2774E80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ARQUITECTURA EMPRESARIAL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B254F8CA-3AE2-4987-B773-C393E223E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990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D2944"/>
                </a:solidFill>
                <a:latin typeface="Georgia"/>
                <a:ea typeface="Georgia"/>
                <a:cs typeface="Georgia"/>
              </a:defRPr>
            </a:pPr>
            <a:r>
              <a:rPr sz="2550" b="1" i="0">
                <a:solidFill>
                  <a:srgbClr val="0D2944"/>
                </a:solidFill>
                <a:latin typeface="Georgia"/>
                <a:ea typeface="Georgia"/>
                <a:cs typeface="Georgia"/>
              </a:rPr>
              <a:t>Los 14 pilares estratégicos del Sistema BES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45F4F3-8ACA-47A2-9595-E0A67CA1F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8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F400B3-F00C-4463-92D7-76B5071FE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BES v2.0 · Aprobado y liberado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040828-FB87-4682-9047-FB332A975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524625"/>
            <a:ext cx="3009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Documento controlado · 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F06F90-6DE3-4F1F-BCDB-6E16746E7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52387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0D2944"/>
          </a:solidFill>
          <a:ln xmlns:a="http://schemas.openxmlformats.org/drawingml/2006/main" w="9525">
            <a:solidFill>
              <a:srgbClr val="0D294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DC5CB0-26C0-4D71-95DE-6440EF843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52600"/>
            <a:ext cx="4191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B38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43E790-DC99-49CB-8AD6-C4CF56330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1809750"/>
            <a:ext cx="28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8BD7A1-4FE4-4126-B62A-E154AE150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790700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Gobierno BES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FC9183-7049-40B5-89D2-5B3AACD02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52387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A98713-82E5-439F-950D-57BCBDCCC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71725"/>
            <a:ext cx="4191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EDE5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313B9B-0B97-44C0-91ED-FDB3BF9AA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428875"/>
            <a:ext cx="28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1B9DF5-7B03-4620-9764-0F1EA324A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409825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BLOS Methodology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1D77B1-9DA5-4BE0-A703-59E5CC60A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52387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721764-415F-4EBF-848F-F7C94623D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90850"/>
            <a:ext cx="4191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EDE5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59C778-E853-4E31-9B14-CA30035CC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048000"/>
            <a:ext cx="28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A67D20-6D13-4F1B-821A-2FE9189F7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028950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SIGO-BL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D733BD-034C-4A7B-87DE-64DA01979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14725"/>
            <a:ext cx="52387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A934C3-D7E0-4FBF-8240-923D50F93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09975"/>
            <a:ext cx="4191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EDE5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CAC5A7-A9BF-4DE7-8F7E-5F1E3D268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667125"/>
            <a:ext cx="28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271534-99C8-482D-AE52-6B6E9F539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48075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Operación Integral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2048F0-8CEB-4CD5-B4C2-86FD49C31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3850"/>
            <a:ext cx="52387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2D1177-D897-47D2-AB5D-85D4CB906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29100"/>
            <a:ext cx="4191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EDE5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414239-F6EA-467F-BEFB-95CDF7D20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286250"/>
            <a:ext cx="28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9C5D628-F69A-49CE-BCFB-9C463CD1C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267200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Odoo Enterprise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328F19-EA75-4FD6-9249-DEFCD1F43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52387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FCB0EF8-9919-4F84-B323-395E53141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48225"/>
            <a:ext cx="4191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EDE5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66379B9-467A-4386-A9BC-DA4BCAB59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905375"/>
            <a:ext cx="28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10A944B-8A38-40CF-990B-4B92A2584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86325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BL RACKS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A86611C-0239-4C35-96CF-F033DA00F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72100"/>
            <a:ext cx="52387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B4D3F80-DB3C-455D-900C-BB4478238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67350"/>
            <a:ext cx="4191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EDE5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CD2DC20-98F4-4594-9F36-48E0C2218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524500"/>
            <a:ext cx="28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BA4DC39-2A0B-4F83-B0C1-C216C2632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505450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Integración Odoo ↔ BL RACKS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12A0AD9-3684-4E71-88AF-94841F20F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657350"/>
            <a:ext cx="52387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A9AF8CE-8665-4896-A6C3-053A10B73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4191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EDE5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488025B-DEFE-4725-B121-87179E11A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809750"/>
            <a:ext cx="28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409F013-CE68-4CA7-BA9E-855AFD51C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790700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Business Intelligence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3173DE9-EA91-4C89-AF6A-D674CD68E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276475"/>
            <a:ext cx="52387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A23D844-595B-45E0-8A8C-6812B5CFE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71725"/>
            <a:ext cx="4191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EDE5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0784555-A0AC-46D4-9138-728B7F8EB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428875"/>
            <a:ext cx="28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2ED02B9-4AEB-4696-83A9-4D2F0BD0A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409825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Calidad y Auditoría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897A337-B69B-4485-A9CD-E5AB02FBD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895600"/>
            <a:ext cx="52387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80BDC02-3A57-4B5E-84A1-C9559A863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90850"/>
            <a:ext cx="4191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EDE5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4F596D4-356F-4501-9FF8-774B06D23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048000"/>
            <a:ext cx="28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35C0511-C16D-42AF-8CAA-9A02C9EE8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028950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Mejora Continua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3A249FD-2B51-4FE6-AC87-BFC5F6EAA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514725"/>
            <a:ext cx="52387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36D3111-6E01-4236-98D5-A07FF73FC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609975"/>
            <a:ext cx="4191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EDE5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4E8C3C0-5282-42F4-8622-D7B888FA0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667125"/>
            <a:ext cx="28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7FF01B3-CF20-4967-99C4-8B28B4E97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648075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Universidad Best Linen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FD21F2E-71CB-404F-8874-01F3550C0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133850"/>
            <a:ext cx="52387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9AB219C-E6A3-4D9A-B289-D0704F269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29100"/>
            <a:ext cx="4191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EDE5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AABF776-DCF4-45DD-8840-176D78F54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286250"/>
            <a:ext cx="28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3C1349E-9551-482F-9CA7-DED27B710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267200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Gestión del Talento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E838862-3EFF-47C9-AB8A-3067B496C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752975"/>
            <a:ext cx="52387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6B6A73E-7B0F-4E2A-B2AD-6320E5651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848225"/>
            <a:ext cx="4191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EDE5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27BA776-FF71-4830-9059-7AE3439D8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905375"/>
            <a:ext cx="28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75C75C9-C7AF-4A11-A4ED-FAB33D961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886325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Control Documental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CB23F4D-951E-443B-B6EB-F1127C32B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372100"/>
            <a:ext cx="52387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0D2944"/>
          </a:solidFill>
          <a:ln xmlns:a="http://schemas.openxmlformats.org/drawingml/2006/main" w="9525">
            <a:solidFill>
              <a:srgbClr val="0D2944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AB2F098-6A74-43BA-95F1-0F47758A5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67350"/>
            <a:ext cx="4191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B38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94FC767-7C3E-4230-A07B-1BA4E19FB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5524500"/>
            <a:ext cx="28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DFA46EC-87DD-4357-BA1F-3E4781B5E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505450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Dirección General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E692847-9280-4DD9-AECB-6B0DE1CEE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6134100"/>
            <a:ext cx="40386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38A3D"/>
          </a:solidFill>
          <a:ln xmlns:a="http://schemas.openxmlformats.org/drawingml/2006/main" w="9525">
            <a:solidFill>
              <a:srgbClr val="B38A3D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CD5CC5D-A6F2-4F56-9BE4-162CBA970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6200775"/>
            <a:ext cx="38481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14 PILARES · UNA SOLA ARQUITECTURA</a:t>
            </a:r>
          </a:p>
        </p:txBody>
      </p:sp>
    </p:spTree>
    <p:extLst>
      <p:ext uri="{BB962C8B-B14F-4D97-AF65-F5344CB8AC3E}">
        <p14:creationId xmlns:p14="http://schemas.microsoft.com/office/powerpoint/2010/main" val="162298805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eyebrow-5">
            <a:extLst xmlns:a="http://schemas.openxmlformats.org/drawingml/2006/main">
              <a:ext uri="{FF2B5EF4-FFF2-40B4-BE49-F238E27FC236}">
                <a16:creationId xmlns:a16="http://schemas.microsoft.com/office/drawing/2014/main" id="{37AC757E-6B76-4DBC-80DF-DD6F7C982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CONTROL DOCUMENTAL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2B5964DB-D068-4A7F-8D43-FE3F2207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990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D2944"/>
                </a:solidFill>
                <a:latin typeface="Georgia"/>
                <a:ea typeface="Georgia"/>
                <a:cs typeface="Georgia"/>
              </a:defRPr>
            </a:pPr>
            <a:r>
              <a:rPr sz="2550" b="1" i="0">
                <a:solidFill>
                  <a:srgbClr val="0D2944"/>
                </a:solidFill>
                <a:latin typeface="Georgia"/>
                <a:ea typeface="Georgia"/>
                <a:cs typeface="Georgia"/>
              </a:rPr>
              <a:t>La misma estructura de 22 carpetas en cada pilar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C3EDB5-CBEE-483B-849B-C2461B03A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8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A4B637-EB6B-4560-9C90-42E091358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BES v2.0 · Aprobado y liberado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BFFFEF-6D0C-44DB-830E-A023E2857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524625"/>
            <a:ext cx="3009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Documento controlado · 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E6CE0F-B97E-4726-BE32-99B6D8877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4324350" cy="41148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D38A40-C5E2-42E7-9D64-1D626800A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66900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243638-8EA6-47F9-A8E3-22C783C91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857375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Gobierno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94B7C1-8AC2-4983-AC12-B90F6B9FF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14550"/>
            <a:ext cx="3886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1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5EC0D4-5B1D-4FBD-B59B-E2E556D32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00275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2594C5-8FA4-4B5B-9151-8212B20B3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19075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Manuales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9FBAA2-4D43-4A71-BAAD-2F85DBFA3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47925"/>
            <a:ext cx="3886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1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4E9164-966F-4289-8CBA-CC00BBDFE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33650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DF5FA2-7F9A-4714-9EE2-2B563BA4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524125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SOP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829CD7-8589-4E4B-95B6-A4A797692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81300"/>
            <a:ext cx="3886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1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F79BEE-92DE-413D-92B2-69F63D698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67025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7EDDAC-DA4C-4E2D-8B23-CB93A20FB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PRO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BD5A5E-4858-4D97-B1B8-905EFDF08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14675"/>
            <a:ext cx="3886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1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B73691-02E9-4FD1-9AF5-0A8E36C48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00400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61EBAB-B09A-4211-881A-A593A1EBD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90875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FOR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594C93-7540-441E-A559-640806013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48050"/>
            <a:ext cx="3886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1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69D560-3D6F-421E-8CBF-EA2416A31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33775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EB5714-3F3C-4EBF-A30A-3D66750EA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52425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WI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FF705A6-F642-4913-B6EF-4608858C7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81425"/>
            <a:ext cx="3886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1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C1C1D4C-526C-4FD4-A392-62DB66819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67150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B09EDDC-C3CD-4D2F-9848-91E9659AF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857625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POL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D5A992C-5227-4CD5-BC08-B5B9C7ACC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14800"/>
            <a:ext cx="3886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1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DD5A879-1C18-4184-A304-CA5ED4362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00525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3E18E8C-4653-4781-A64F-2D84EC627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19100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STD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53135CA-6FE9-4EA0-8D36-AEFDB48BE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48175"/>
            <a:ext cx="3886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1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68F2262-EAE0-4460-939E-AF50C5AFD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33900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8B77385-AB41-4E31-8F16-D6DA6D9D0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524375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CAP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481E3AF-FD4A-411F-B86B-ECEF1BC81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81550"/>
            <a:ext cx="3886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1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689116B-BC14-4BFF-9039-F9053265B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67275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947C88D-9296-4145-BB7F-B48F40986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5775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PPT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10F55F3-5AAE-4946-B149-F6774531C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14925"/>
            <a:ext cx="3886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1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72F9D45-F6A0-498B-A153-7ED797819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00650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ACC4386-3E49-462F-9894-B170EEAD9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191125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A3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79A1133-DBC6-43C7-96E1-65B3D3470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657350"/>
            <a:ext cx="4324350" cy="41148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CBDC561-0679-49EF-BDE9-AA90F8BC7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866900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A2097DB-6E77-4D66-BBF9-C3E1D1DCB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857375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KPI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4C543D9-F550-46EB-A677-B62FD53FC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114550"/>
            <a:ext cx="3886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1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064B94A-05E4-49D0-AA26-4F6D62594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200275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D5E5301-E969-496B-877E-88EED09EE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19075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Dashboard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53D5FD9-8756-4ABC-B3EB-79A452707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447925"/>
            <a:ext cx="3886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1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22FF758-B363-4567-B4EB-01FB14CDE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533650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E025E55-7CCD-4946-8788-3EDAB2C2F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524125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Auditorías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77BD89C-62CA-41EB-A20A-0A5717571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781300"/>
            <a:ext cx="3886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1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93AC947-C76E-464C-BFF8-86D93B950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867025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161D7A9-C06D-4F88-8300-7A5E8FC8C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85750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Riesgos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32D66D1-5D99-4539-9770-2E2298C93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114675"/>
            <a:ext cx="3886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1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FFD7ACE-E372-4CD8-B8FA-526A33CBC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200400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4434C06-0300-4ED5-90FC-0D8819EDC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190875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Mejora Continua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D7FE948-B154-48D6-829B-02D2FB831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448050"/>
            <a:ext cx="3886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1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BFDF6F7-7382-46B7-882E-F051C237F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533775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A9BC849-7FDF-4BD3-8FFF-720C2B6F8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52425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Diagramas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DE201A8-4E52-4A5E-8758-A5311F979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781425"/>
            <a:ext cx="3886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1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1EA0435-9337-479B-9E8A-3588DDFDF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867150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FAFF0FB-8D80-48A6-A9C6-7F2BF48DE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857625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Formatos Especiales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3239664-BF31-4DA9-8ABE-DDF2270B1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114800"/>
            <a:ext cx="3886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1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BBB92EE-1A87-439E-A1EF-5F3876EEE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200525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ABAE6B5-1727-452E-BD2B-CE9ED5ECB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19100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Evidencias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32ADF41-AEC3-4A07-A327-9496D7913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448175"/>
            <a:ext cx="3886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1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19FFA1D-FE71-4DA9-8F04-C2C464957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533900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F3AD06C-E400-4986-AE61-063ACD2A0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524375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Plantillas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E6CAEF0-FA62-4AC0-BABB-B11347E8A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781550"/>
            <a:ext cx="3886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1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462D4F7-E4C7-4691-BCB1-747E3057D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867275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1757095-5709-4B36-9325-DE594967F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85775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Historial de Versiones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D6A6A443-ECDC-4CCC-8D53-73C904A7E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5114925"/>
            <a:ext cx="3886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1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521DC75-6901-4FC4-8884-B07C51049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5200650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5946FEE1-3C5C-45FF-9B9F-59C8816A2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191125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README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F69CDE96-4272-4CC8-80F1-4910D481F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657350"/>
            <a:ext cx="1676400" cy="4114800"/>
          </a:xfrm>
          <a:prstGeom xmlns:a="http://schemas.openxmlformats.org/drawingml/2006/main" prst="roundRect">
            <a:avLst>
              <a:gd name="adj" fmla="val 10227"/>
            </a:avLst>
          </a:prstGeom>
          <a:solidFill xmlns:a="http://schemas.openxmlformats.org/drawingml/2006/main">
            <a:srgbClr val="0D2944"/>
          </a:solidFill>
          <a:ln xmlns:a="http://schemas.openxmlformats.org/drawingml/2006/main" w="9525">
            <a:solidFill>
              <a:srgbClr val="0D2944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6B9B1BB-EA40-4756-BE1D-BFBC3A9E3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1943100"/>
            <a:ext cx="11811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1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MAPA</a:t>
            </a:r>
          </a:p>
          <a:p xmlns:a="http://schemas.openxmlformats.org/drawingml/2006/main">
            <a:pPr algn="ctr">
              <a:defRPr sz="210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1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DEL</a:t>
            </a:r>
          </a:p>
          <a:p xmlns:a="http://schemas.openxmlformats.org/drawingml/2006/main">
            <a:pPr algn="ctr">
              <a:defRPr sz="210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1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PILAR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CC436F2-D143-4F93-BEE6-BD76A58DB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333750"/>
            <a:ext cx="91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B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D59F15A-DF57-4CFE-AD97-6B249B328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581400"/>
            <a:ext cx="12954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D7E2EC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D7E2EC"/>
                </a:solidFill>
                <a:latin typeface="Aptos"/>
                <a:ea typeface="Aptos"/>
                <a:cs typeface="Aptos"/>
              </a:rPr>
              <a:t>Propósito</a:t>
            </a:r>
          </a:p>
          <a:p xmlns:a="http://schemas.openxmlformats.org/drawingml/2006/main">
            <a:pPr algn="ctr">
              <a:defRPr sz="1050" b="1" i="0">
                <a:solidFill>
                  <a:srgbClr val="D7E2EC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D7E2EC"/>
                </a:solidFill>
                <a:latin typeface="Aptos"/>
                <a:ea typeface="Aptos"/>
                <a:cs typeface="Aptos"/>
              </a:rPr>
              <a:t>Interacciones</a:t>
            </a:r>
          </a:p>
          <a:p xmlns:a="http://schemas.openxmlformats.org/drawingml/2006/main">
            <a:pPr algn="ctr">
              <a:defRPr sz="1050" b="1" i="0">
                <a:solidFill>
                  <a:srgbClr val="D7E2EC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D7E2EC"/>
                </a:solidFill>
                <a:latin typeface="Aptos"/>
                <a:ea typeface="Aptos"/>
                <a:cs typeface="Aptos"/>
              </a:rPr>
              <a:t>Procesos</a:t>
            </a:r>
          </a:p>
          <a:p xmlns:a="http://schemas.openxmlformats.org/drawingml/2006/main">
            <a:pPr algn="ctr">
              <a:defRPr sz="1050" b="1" i="0">
                <a:solidFill>
                  <a:srgbClr val="D7E2EC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D7E2EC"/>
                </a:solidFill>
                <a:latin typeface="Aptos"/>
                <a:ea typeface="Aptos"/>
                <a:cs typeface="Aptos"/>
              </a:rPr>
              <a:t>Documentos</a:t>
            </a:r>
          </a:p>
          <a:p xmlns:a="http://schemas.openxmlformats.org/drawingml/2006/main">
            <a:pPr algn="ctr">
              <a:defRPr sz="1050" b="1" i="0">
                <a:solidFill>
                  <a:srgbClr val="D7E2EC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D7E2EC"/>
                </a:solidFill>
                <a:latin typeface="Aptos"/>
                <a:ea typeface="Aptos"/>
                <a:cs typeface="Aptos"/>
              </a:rPr>
              <a:t>Sistemas</a:t>
            </a:r>
          </a:p>
          <a:p xmlns:a="http://schemas.openxmlformats.org/drawingml/2006/main">
            <a:pPr algn="ctr">
              <a:defRPr sz="1050" b="1" i="0">
                <a:solidFill>
                  <a:srgbClr val="D7E2EC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D7E2EC"/>
                </a:solidFill>
                <a:latin typeface="Aptos"/>
                <a:ea typeface="Aptos"/>
                <a:cs typeface="Aptos"/>
              </a:rPr>
              <a:t>KPIs</a:t>
            </a:r>
          </a:p>
          <a:p xmlns:a="http://schemas.openxmlformats.org/drawingml/2006/main">
            <a:pPr algn="ctr">
              <a:defRPr sz="1050" b="1" i="0">
                <a:solidFill>
                  <a:srgbClr val="D7E2EC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D7E2EC"/>
                </a:solidFill>
                <a:latin typeface="Aptos"/>
                <a:ea typeface="Aptos"/>
                <a:cs typeface="Aptos"/>
              </a:rPr>
              <a:t>Mejora</a:t>
            </a:r>
          </a:p>
        </p:txBody>
      </p:sp>
    </p:spTree>
    <p:extLst>
      <p:ext uri="{BB962C8B-B14F-4D97-AF65-F5344CB8AC3E}">
        <p14:creationId xmlns:p14="http://schemas.microsoft.com/office/powerpoint/2010/main" val="63544991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eyebrow-6">
            <a:extLst xmlns:a="http://schemas.openxmlformats.org/drawingml/2006/main">
              <a:ext uri="{FF2B5EF4-FFF2-40B4-BE49-F238E27FC236}">
                <a16:creationId xmlns:a16="http://schemas.microsoft.com/office/drawing/2014/main" id="{D288E057-9C15-4605-9EC2-48AB558E1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ARQUITECTURA ORGANIZACIONAL</a:t>
            </a:r>
          </a:p>
        </p:txBody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62249C84-965E-4DF4-B3E7-0A5B92FFA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990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0D2944"/>
                </a:solidFill>
                <a:latin typeface="Georgia"/>
                <a:ea typeface="Georgia"/>
                <a:cs typeface="Georgia"/>
              </a:defRPr>
            </a:pPr>
            <a:r>
              <a:rPr sz="2250" b="1" i="0">
                <a:solidFill>
                  <a:srgbClr val="0D2944"/>
                </a:solidFill>
                <a:latin typeface="Georgia"/>
                <a:ea typeface="Georgia"/>
                <a:cs typeface="Georgia"/>
              </a:rPr>
              <a:t>Responsabilidad clara desde Dirección hasta la ejecución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7B80CD-A7F6-4191-A893-E56518ED3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8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EC7B7C-ACCA-41D9-A966-9FE0C98AB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BES v2.0 · Aprobado y liberado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04C469-C745-43FB-A9A5-8D4D37B27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524625"/>
            <a:ext cx="3009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Documento controlado · 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548152-0805-4581-A91F-77A8E9CD3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600200"/>
            <a:ext cx="4572000" cy="704850"/>
          </a:xfrm>
          <a:prstGeom xmlns:a="http://schemas.openxmlformats.org/drawingml/2006/main" prst="roundRect">
            <a:avLst>
              <a:gd name="adj" fmla="val 21622"/>
            </a:avLst>
          </a:prstGeom>
          <a:solidFill xmlns:a="http://schemas.openxmlformats.org/drawingml/2006/main">
            <a:srgbClr val="0D2944"/>
          </a:solidFill>
          <a:ln xmlns:a="http://schemas.openxmlformats.org/drawingml/2006/main" w="9525">
            <a:solidFill>
              <a:srgbClr val="0D294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63A5EA-CC91-4FF3-A5D7-6F8DEB20A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733550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DIRECCIÓN GENERAL / GERENCIA SENIOR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157BE9-6CEB-4AF5-B725-914D4A246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990725"/>
            <a:ext cx="415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 i="0">
                <a:solidFill>
                  <a:srgbClr val="D7E2EC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D7E2EC"/>
                </a:solidFill>
                <a:latin typeface="Aptos"/>
                <a:ea typeface="Aptos"/>
                <a:cs typeface="Aptos"/>
              </a:rPr>
              <a:t>Estrategia · rentabilidad · gobierno · recursos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D8BC18-29B3-4174-B4AB-A50AACD57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476500"/>
            <a:ext cx="6191250" cy="704850"/>
          </a:xfrm>
          <a:prstGeom xmlns:a="http://schemas.openxmlformats.org/drawingml/2006/main" prst="roundRect">
            <a:avLst>
              <a:gd name="adj" fmla="val 21622"/>
            </a:avLst>
          </a:prstGeom>
          <a:solidFill xmlns:a="http://schemas.openxmlformats.org/drawingml/2006/main">
            <a:srgbClr val="173B5F"/>
          </a:solidFill>
          <a:ln xmlns:a="http://schemas.openxmlformats.org/drawingml/2006/main" w="9525">
            <a:solidFill>
              <a:srgbClr val="173B5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090671-FC5C-412B-8CC8-AD154D0B6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609850"/>
            <a:ext cx="577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GERENCIAS DE ÁREA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0CD393-B7FA-4551-926C-44EDA66FB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867025"/>
            <a:ext cx="577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 i="0">
                <a:solidFill>
                  <a:srgbClr val="D7E2EC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D7E2EC"/>
                </a:solidFill>
                <a:latin typeface="Aptos"/>
                <a:ea typeface="Aptos"/>
                <a:cs typeface="Aptos"/>
              </a:rPr>
              <a:t>Operaciones · Finanzas · Supply Chain · Capital Humano · TI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5D2BEE-FBAC-47F2-BAF5-B85701461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352800"/>
            <a:ext cx="7810500" cy="704850"/>
          </a:xfrm>
          <a:prstGeom xmlns:a="http://schemas.openxmlformats.org/drawingml/2006/main" prst="roundRect">
            <a:avLst>
              <a:gd name="adj" fmla="val 21622"/>
            </a:avLst>
          </a:prstGeom>
          <a:solidFill xmlns:a="http://schemas.openxmlformats.org/drawingml/2006/main">
            <a:srgbClr val="244F76"/>
          </a:solidFill>
          <a:ln xmlns:a="http://schemas.openxmlformats.org/drawingml/2006/main" w="9525">
            <a:solidFill>
              <a:srgbClr val="244F7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49BDA7-E4F3-4341-A7D3-D8822DCC3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486150"/>
            <a:ext cx="7391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JEFATURAS Y COORDINACIONES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C0B1CB-6883-41B8-8856-87D445719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743325"/>
            <a:ext cx="7391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 i="0">
                <a:solidFill>
                  <a:srgbClr val="D7E2EC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D7E2EC"/>
                </a:solidFill>
                <a:latin typeface="Aptos"/>
                <a:ea typeface="Aptos"/>
                <a:cs typeface="Aptos"/>
              </a:rPr>
              <a:t>Planeación táctica · prioridades · capacidad · escalamiento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B1F4FE-90B5-4F5E-9EBD-C854DEED2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229100"/>
            <a:ext cx="9239250" cy="704850"/>
          </a:xfrm>
          <a:prstGeom xmlns:a="http://schemas.openxmlformats.org/drawingml/2006/main" prst="roundRect">
            <a:avLst>
              <a:gd name="adj" fmla="val 21622"/>
            </a:avLst>
          </a:prstGeom>
          <a:solidFill xmlns:a="http://schemas.openxmlformats.org/drawingml/2006/main">
            <a:srgbClr val="2D6FB7"/>
          </a:solidFill>
          <a:ln xmlns:a="http://schemas.openxmlformats.org/drawingml/2006/main" w="9525">
            <a:solidFill>
              <a:srgbClr val="2D6FB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77D42F-3165-4B38-BFCF-1E225976A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4362450"/>
            <a:ext cx="882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SUPERVISIONES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3DC215-BF7D-49F5-B385-3D34E1D1B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4619625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 i="0">
                <a:solidFill>
                  <a:srgbClr val="D7E2EC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D7E2EC"/>
                </a:solidFill>
                <a:latin typeface="Aptos"/>
                <a:ea typeface="Aptos"/>
                <a:cs typeface="Aptos"/>
              </a:rPr>
              <a:t>Control directo · seguridad · calidad · evidencia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B5C1EE-29AA-4EAD-B8A2-F10907ACA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05400"/>
            <a:ext cx="10668000" cy="704850"/>
          </a:xfrm>
          <a:prstGeom xmlns:a="http://schemas.openxmlformats.org/drawingml/2006/main" prst="roundRect">
            <a:avLst>
              <a:gd name="adj" fmla="val 21622"/>
            </a:avLst>
          </a:prstGeom>
          <a:solidFill xmlns:a="http://schemas.openxmlformats.org/drawingml/2006/main">
            <a:srgbClr val="B38A3D"/>
          </a:solidFill>
          <a:ln xmlns:a="http://schemas.openxmlformats.org/drawingml/2006/main" w="9525">
            <a:solidFill>
              <a:srgbClr val="B38A3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6B3158-BFAF-46E2-8263-8C202FFB2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238750"/>
            <a:ext cx="10248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ESPECIALISTAS Y OPERACIÓN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103AE8-0A35-444D-9A83-F627D8610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495925"/>
            <a:ext cx="10248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0D2944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0D2944"/>
                </a:solidFill>
                <a:latin typeface="Aptos"/>
                <a:ea typeface="Aptos"/>
                <a:cs typeface="Aptos"/>
              </a:rPr>
              <a:t>Analistas · Mesa de Control · Auditoría · Montacargas · Auxiliares</a:t>
            </a:r>
          </a:p>
        </p:txBody>
      </p:sp>
    </p:spTree>
    <p:extLst>
      <p:ext uri="{BB962C8B-B14F-4D97-AF65-F5344CB8AC3E}">
        <p14:creationId xmlns:p14="http://schemas.microsoft.com/office/powerpoint/2010/main" val="28307857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eyebrow-7">
            <a:extLst xmlns:a="http://schemas.openxmlformats.org/drawingml/2006/main">
              <a:ext uri="{FF2B5EF4-FFF2-40B4-BE49-F238E27FC236}">
                <a16:creationId xmlns:a16="http://schemas.microsoft.com/office/drawing/2014/main" id="{6FBADEA6-8D27-4E25-8ECB-1C76C308D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PROCESOS TRANSVERSALES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487FF7D9-250C-4EB1-ADA0-8E2868FDF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990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D2944"/>
                </a:solidFill>
                <a:latin typeface="Georgia"/>
                <a:ea typeface="Georgia"/>
                <a:cs typeface="Georgia"/>
              </a:defRPr>
            </a:pPr>
            <a:r>
              <a:rPr sz="2550" b="1" i="0">
                <a:solidFill>
                  <a:srgbClr val="0D2944"/>
                </a:solidFill>
                <a:latin typeface="Georgia"/>
                <a:ea typeface="Georgia"/>
                <a:cs typeface="Georgia"/>
              </a:rPr>
              <a:t>La cadena de valor se gobierna punta a punta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01C8B8-3481-45E4-8565-84F82C437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8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F087B8-425E-4DB9-A418-DC33B4B26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BES v2.0 · Aprobado y liberado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09F3F0-7D7B-460B-92BD-B32B76E93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524625"/>
            <a:ext cx="3009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Documento controlado · 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40DD86-E19A-4FC3-A7F7-3E425307A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11811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C721C7-06D5-4969-9490-89208C0DB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85950"/>
            <a:ext cx="266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DCF9BC-19B1-4829-8F07-476F8EB72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4312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0D2944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0D2944"/>
                </a:solidFill>
                <a:latin typeface="Aptos"/>
                <a:ea typeface="Aptos"/>
                <a:cs typeface="Aptos"/>
              </a:rPr>
              <a:t>Compras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752E80-C233-49A3-8078-6298452D2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038350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6B8B21-B286-436C-ADAC-AB3F2C99D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1771650"/>
            <a:ext cx="11811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8B4155-EC6A-466D-BC17-D9BAE8B24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1885950"/>
            <a:ext cx="266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84B517-A6B1-458C-BF0D-4CB4F93CA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14312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0D2944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0D2944"/>
                </a:solidFill>
                <a:latin typeface="Aptos"/>
                <a:ea typeface="Aptos"/>
                <a:cs typeface="Aptos"/>
              </a:rPr>
              <a:t>Importación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916BCB-E399-4E33-94BB-CF20D2535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038350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A386CB-4A4F-4E16-9FF9-4B72353C1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771650"/>
            <a:ext cx="11811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D507AE-F465-4C9F-9883-9E627F8A7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885950"/>
            <a:ext cx="266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460B87-C87D-480D-AF26-E028D4900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14312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0D2944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0D2944"/>
                </a:solidFill>
                <a:latin typeface="Aptos"/>
                <a:ea typeface="Aptos"/>
                <a:cs typeface="Aptos"/>
              </a:rPr>
              <a:t>Fabricación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7BB8DA-F65E-4FFE-9587-6B282DD17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038350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9FD0EC-4221-4EC3-BFA0-F3F7287F4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771650"/>
            <a:ext cx="11811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0D2944"/>
          </a:solidFill>
          <a:ln xmlns:a="http://schemas.openxmlformats.org/drawingml/2006/main" w="9525">
            <a:solidFill>
              <a:srgbClr val="0D294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096B2E-2F4E-4440-A788-01AA5064F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885950"/>
            <a:ext cx="266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88D121-9295-441D-9EB8-11AF39F56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14312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Inbound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ABACB4-0707-43E2-B6B1-1ACF62797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038350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92E697-6EA3-4A17-BF3E-892EE9B59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71650"/>
            <a:ext cx="11811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E059AB-E700-4F64-81BB-D001C8221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85950"/>
            <a:ext cx="266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7F633A1-4CF8-4A5F-A012-63C258542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4312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0D2944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0D2944"/>
                </a:solidFill>
                <a:latin typeface="Aptos"/>
                <a:ea typeface="Aptos"/>
                <a:cs typeface="Aptos"/>
              </a:rPr>
              <a:t>Inventarios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B527906-FC05-4C2F-AB0D-401981117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038350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563558F-C90C-4AA7-A025-E1E152419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771650"/>
            <a:ext cx="11811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0D2944"/>
          </a:solidFill>
          <a:ln xmlns:a="http://schemas.openxmlformats.org/drawingml/2006/main" w="9525">
            <a:solidFill>
              <a:srgbClr val="0D294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566E0FE-5C0D-46BF-8837-0320CBBB5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885950"/>
            <a:ext cx="266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3CD4F02-3CC6-4785-8467-229F0EC5E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14312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Outbound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5B9631B-FAAD-4E48-8293-928502257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038350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3D06F56-1407-4016-8562-869173445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771650"/>
            <a:ext cx="11811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C3B42F2-0B84-463C-85AD-9914FCD9F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885950"/>
            <a:ext cx="266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AC6B6AB-8546-4420-8085-CF5D1042A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4312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0D2944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0D2944"/>
                </a:solidFill>
                <a:latin typeface="Aptos"/>
                <a:ea typeface="Aptos"/>
                <a:cs typeface="Aptos"/>
              </a:rPr>
              <a:t>Facturación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83E1B5C-0FA3-475D-ADC8-EB0CE8236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038350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8B1C97F-A44F-4C3A-9BDE-8CEA555EF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1771650"/>
            <a:ext cx="11811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B12FEA0-20BB-4E9F-8061-2A4ACDF20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1885950"/>
            <a:ext cx="266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2B97D9A-8014-4172-8BEF-42CF78FB8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14312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0D2944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0D2944"/>
                </a:solidFill>
                <a:latin typeface="Aptos"/>
                <a:ea typeface="Aptos"/>
                <a:cs typeface="Aptos"/>
              </a:rPr>
              <a:t>Cliente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4D8950F-F2C5-4053-B2C7-CA3AF8204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109728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3649315-ABB6-46BB-B728-AA2619078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1143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FB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784369C-0BC4-4282-AE2E-62B34FB0D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432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0D2944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0D2944"/>
                </a:solidFill>
                <a:latin typeface="Aptos"/>
                <a:ea typeface="Aptos"/>
                <a:cs typeface="Aptos"/>
              </a:rPr>
              <a:t>ADMINISTRACIÓN Y FINANZAS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574B793-4B60-4B40-A937-D0CDD0185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152775"/>
            <a:ext cx="695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Gastos · CxC · CxP · rentabilidad · cierres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AE4C86A-CAFE-49B3-BCAE-8F1C8B2E2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95700"/>
            <a:ext cx="109728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7AD40BB-09B9-4863-9E32-5639056B8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95700"/>
            <a:ext cx="1143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8A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C6BB8D9-2342-4538-AC6B-72B0EA480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290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0D2944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0D2944"/>
                </a:solidFill>
                <a:latin typeface="Aptos"/>
                <a:ea typeface="Aptos"/>
                <a:cs typeface="Aptos"/>
              </a:rPr>
              <a:t>CALIDAD Y MEJORA CONTINUA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0EABDD3-7E37-4580-9800-EE54B8D23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838575"/>
            <a:ext cx="695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5S · Kaizen · causa raíz · A3 · CAPA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5820FB8-2A85-4BED-875D-47D8655D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109728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5F051E5-F634-42FA-98C5-424CF28ED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1143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8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6642C66-2B60-4D48-8E8A-D7C3896FD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148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0D2944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0D2944"/>
                </a:solidFill>
                <a:latin typeface="Aptos"/>
                <a:ea typeface="Aptos"/>
                <a:cs typeface="Aptos"/>
              </a:rPr>
              <a:t>SOPORTE Y CAPITAL HUMANO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73EA98D-5487-4E7B-B3EA-3FE3B8BA4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524375"/>
            <a:ext cx="695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Personas · mantenimiento · seguridad patrimonial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2D8C032-C098-49F0-9232-3E01D3701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109728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F5E3C6A-D655-4D3B-9B60-92D8B6AC8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1143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4F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02A9B8B-CCDB-4F2E-8950-24D71A833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006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0D2944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0D2944"/>
                </a:solidFill>
                <a:latin typeface="Aptos"/>
                <a:ea typeface="Aptos"/>
                <a:cs typeface="Aptos"/>
              </a:rPr>
              <a:t>INGENIERÍA Y DATOS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39DD330-3CFC-4F87-A439-F5F5A78FF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210175"/>
            <a:ext cx="695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PT · BPMN · SIPOC · KPIs · BI · arquitectura</a:t>
            </a:r>
          </a:p>
        </p:txBody>
      </p:sp>
    </p:spTree>
    <p:extLst>
      <p:ext uri="{BB962C8B-B14F-4D97-AF65-F5344CB8AC3E}">
        <p14:creationId xmlns:p14="http://schemas.microsoft.com/office/powerpoint/2010/main" val="25828158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eyebrow-8">
            <a:extLst xmlns:a="http://schemas.openxmlformats.org/drawingml/2006/main">
              <a:ext uri="{FF2B5EF4-FFF2-40B4-BE49-F238E27FC236}">
                <a16:creationId xmlns:a16="http://schemas.microsoft.com/office/drawing/2014/main" id="{F221BB79-D54B-4A18-A9B5-C07736B34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GOBIERNO DE INFORMACIÓN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811BE20A-8ABD-4E9B-B206-930C846E6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990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D2944"/>
                </a:solidFill>
                <a:latin typeface="Georgia"/>
                <a:ea typeface="Georgia"/>
                <a:cs typeface="Georgia"/>
              </a:defRPr>
            </a:pPr>
            <a:r>
              <a:rPr sz="2550" b="1" i="0">
                <a:solidFill>
                  <a:srgbClr val="0D2944"/>
                </a:solidFill>
                <a:latin typeface="Georgia"/>
                <a:ea typeface="Georgia"/>
                <a:cs typeface="Georgia"/>
              </a:rPr>
              <a:t>Mapa Maestro de Información · Odoo ↔ BL RACKS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4D722E-CD09-481C-9170-3F71C0E85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8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664AE6-112E-46D7-8D60-660D27775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BES v2.0 · Aprobado y liberado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F66002-6D07-4687-93FE-FB1638162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524625"/>
            <a:ext cx="3009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Documento controlado · 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EA5AD9-6973-43B4-96AE-7DC7D932A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29718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944"/>
          </a:solidFill>
          <a:ln xmlns:a="http://schemas.openxmlformats.org/drawingml/2006/main" w="9525">
            <a:solidFill>
              <a:srgbClr val="0D294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482DC8-B0F1-4E5B-9960-7D7AA17F3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9750"/>
            <a:ext cx="27051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DATO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556DA6-3F8F-4280-9192-1B5FE5CF0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1676400"/>
            <a:ext cx="2324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944"/>
          </a:solidFill>
          <a:ln xmlns:a="http://schemas.openxmlformats.org/drawingml/2006/main" w="9525">
            <a:solidFill>
              <a:srgbClr val="0D294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544E7B-EAC2-4842-A500-16AC44BFB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809750"/>
            <a:ext cx="2057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FUENTE MAESTRA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D036C7-9D08-4E00-91A4-F70F0BA66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7640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944"/>
          </a:solidFill>
          <a:ln xmlns:a="http://schemas.openxmlformats.org/drawingml/2006/main" w="9525">
            <a:solidFill>
              <a:srgbClr val="0D294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23F9A3-CD3C-4839-AAD7-170CAC34E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809750"/>
            <a:ext cx="1924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VALIDA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FCC9DC-341E-484A-8448-68E6B87E6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486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944"/>
          </a:solidFill>
          <a:ln xmlns:a="http://schemas.openxmlformats.org/drawingml/2006/main" w="9525">
            <a:solidFill>
              <a:srgbClr val="0D294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1D2EC3-B9EF-40AD-907A-E287AAEBE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809750"/>
            <a:ext cx="32194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CONTROL DE CONSUMO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81B162-F968-49BB-9B8C-27400CB00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2971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430782-1092-43CD-81FA-04F17454F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28850"/>
            <a:ext cx="2705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Orden de Compra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194CBA-565E-49BC-B7B7-6EAABA4D0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076450"/>
            <a:ext cx="2324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547EDA-0FFE-4BEF-858D-7BACEDDA9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228850"/>
            <a:ext cx="2057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2D6FB7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2D6FB7"/>
                </a:solidFill>
                <a:latin typeface="Aptos"/>
                <a:ea typeface="Aptos"/>
                <a:cs typeface="Aptos"/>
              </a:rPr>
              <a:t>Odoo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817493-788B-4970-9FE7-9F04CCDE8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764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DB700D-01E4-4E58-992B-CDDBA5EA6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228850"/>
            <a:ext cx="1924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Compras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E76BCB-7F65-41BF-87A8-FB12C3927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076450"/>
            <a:ext cx="3486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EFE7F6-55DC-47C0-A3A5-549DBE1A6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28850"/>
            <a:ext cx="3219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Sello de tiempo · usuario · causa · evidencia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E8988F-3651-40DF-92BB-6850315E3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2971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A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2C747B-2F89-452D-889D-991FDEC53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43200"/>
            <a:ext cx="2705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ETA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5DF0D6-6048-489C-BA85-BA629B847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590800"/>
            <a:ext cx="2324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A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CC51F79-EB65-423B-81A4-88C7B96B8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43200"/>
            <a:ext cx="2057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2D6FB7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2D6FB7"/>
                </a:solidFill>
                <a:latin typeface="Aptos"/>
                <a:ea typeface="Aptos"/>
                <a:cs typeface="Aptos"/>
              </a:rPr>
              <a:t>BL RACKS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D598408-B7B9-4F7F-A5F8-5665F3E80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5908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A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AB0E360-6428-4F45-B32E-B3B3E832B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743200"/>
            <a:ext cx="1924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Logística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40D33FE-6CA3-4FF6-96D4-370E33C77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90800"/>
            <a:ext cx="3486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A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71FD8A0-DDB8-4D6C-A6EA-80F1C8393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43200"/>
            <a:ext cx="3219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Sello de tiempo · usuario · causa · evidencia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8821CC8-AA3B-4DD5-9AA2-B2BFA5B1E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2971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94B0E20-F232-4C37-B795-ABEBB8D74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57550"/>
            <a:ext cx="2705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Alta de Rack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22DE31C-2FA2-4870-9DB5-7FF067007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105150"/>
            <a:ext cx="2324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2BFC5C5-7974-4035-8BFB-3DFC2C350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257550"/>
            <a:ext cx="2057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2D6FB7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2D6FB7"/>
                </a:solidFill>
                <a:latin typeface="Aptos"/>
                <a:ea typeface="Aptos"/>
                <a:cs typeface="Aptos"/>
              </a:rPr>
              <a:t>Ambos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101AE52-F447-4654-A332-226D53267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1051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3200FD9-BE2F-453E-8AF3-6E882CB78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257550"/>
            <a:ext cx="1924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Operaciones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19BE1A8-7BCE-46E2-95F5-58BC4B90D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05150"/>
            <a:ext cx="3486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7A32C95-E8FF-4A75-A27D-98C74104E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257550"/>
            <a:ext cx="3219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Sello de tiempo · usuario · causa · evidencia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C6BD92A-19A1-43F2-AF74-FCDE64938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2971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A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1444C26-C4FC-4120-A074-FEC6EE9F7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2705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Movimiento de Rack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2FF85FF-2269-4FD5-8BD5-C854918C6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619500"/>
            <a:ext cx="2324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A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BF6BD9E-DF25-4C6A-AC50-730AF57B9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771900"/>
            <a:ext cx="2057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2D6FB7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2D6FB7"/>
                </a:solidFill>
                <a:latin typeface="Aptos"/>
                <a:ea typeface="Aptos"/>
                <a:cs typeface="Aptos"/>
              </a:rPr>
              <a:t>BL RACKS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C1A6A6D-7987-4AE3-833A-BBB7AF584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6195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A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6323B07-2C11-4D06-A902-C6EB584B9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771900"/>
            <a:ext cx="1924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Operaciones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A54761C-BB9F-4D75-B7E9-456D036EA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19500"/>
            <a:ext cx="3486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A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D2E7DEE-9A07-4495-814C-261360382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771900"/>
            <a:ext cx="3219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Sello de tiempo · usuario · causa · evidencia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BC57063-F69C-4A01-9287-D51E01A2C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3850"/>
            <a:ext cx="2971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F44F74C-B55C-42E7-A760-8A4CE0373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86250"/>
            <a:ext cx="2705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Recepción PT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07DE675-7867-490E-9B9C-DABBFEEF8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133850"/>
            <a:ext cx="2324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B5BA6E5-6A2B-46E5-8544-46DFA824C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86250"/>
            <a:ext cx="2057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2D6FB7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2D6FB7"/>
                </a:solidFill>
                <a:latin typeface="Aptos"/>
                <a:ea typeface="Aptos"/>
                <a:cs typeface="Aptos"/>
              </a:rPr>
              <a:t>BL RACKS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0E53067-06FF-4121-BDC5-1AF1AEEFD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1338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096E60F-190F-4BB1-A9FE-61EEBAA98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286250"/>
            <a:ext cx="1924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Inventarios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5774B05-0CDC-40D4-8493-76C747553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33850"/>
            <a:ext cx="3486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86CE60C-DA4A-4516-BC15-499039F4B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286250"/>
            <a:ext cx="3219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Sello de tiempo · usuario · causa · evidencia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B8F9C3F-F7FF-42E4-B1E3-4580862A7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48200"/>
            <a:ext cx="2971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A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BB390AF-E9AD-48AF-A8A1-1D2A0F6D6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00600"/>
            <a:ext cx="2705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Inventario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AB8E894-0B55-4BB9-8CCA-F8D9D36D4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648200"/>
            <a:ext cx="2324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A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731FF53-5519-47DC-998B-6DE113DA9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00600"/>
            <a:ext cx="2057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2D6FB7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2D6FB7"/>
                </a:solidFill>
                <a:latin typeface="Aptos"/>
                <a:ea typeface="Aptos"/>
                <a:cs typeface="Aptos"/>
              </a:rPr>
              <a:t>Odoo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E8ABE23-E150-464B-B973-B60A50B82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6482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A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FD72E37-CFCD-4649-8C34-86A946BAA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800600"/>
            <a:ext cx="1924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Inventarios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F430D39-1061-4026-AD18-755FEC90F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648200"/>
            <a:ext cx="3486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A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9A5CA61-B520-4D79-86DC-825D4BB7B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00600"/>
            <a:ext cx="3219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Sello de tiempo · usuario · causa · evidencia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E0ACCEC-D4E6-4B59-AFF3-7683CE12A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62550"/>
            <a:ext cx="2971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D3BB4DF-16B7-46D3-B3C3-602E4EDA5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2705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Trazabilidad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E68E396-0D1F-4A16-99D4-038D05FB5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5162550"/>
            <a:ext cx="2324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6253DA6-457C-4CCE-96EF-7ACDF0E66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314950"/>
            <a:ext cx="2057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2D6FB7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2D6FB7"/>
                </a:solidFill>
                <a:latin typeface="Aptos"/>
                <a:ea typeface="Aptos"/>
                <a:cs typeface="Aptos"/>
              </a:rPr>
              <a:t>BL RACKS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F2596DD-2578-47FA-8B5C-2162D6582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1625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02FE3D0B-DE30-46FB-96D8-759FC024B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5314950"/>
            <a:ext cx="1924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Operaciones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DD632417-11A9-4B6C-8C89-8E79765B7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162550"/>
            <a:ext cx="3486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3ABE1A8-8281-4669-967C-3D67868B8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314950"/>
            <a:ext cx="3219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Sello de tiempo · usuario · causa · evidencia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0F60D014-9380-4625-BC1B-2C311332B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9728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DE5D6"/>
          </a:solidFill>
          <a:ln xmlns:a="http://schemas.openxmlformats.org/drawingml/2006/main" w="9525">
            <a:solidFill>
              <a:srgbClr val="D6B673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79BDCE0-6E2C-4BEA-8304-2ACBB69DF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000750"/>
            <a:ext cx="1038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0D2944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0D2944"/>
                </a:solidFill>
                <a:latin typeface="Aptos"/>
                <a:ea typeface="Aptos"/>
                <a:cs typeface="Aptos"/>
              </a:rPr>
              <a:t>Regla: los consumidores no corrigen silenciosamente el dato maestro; registran, contienen y escalan.</a:t>
            </a:r>
          </a:p>
        </p:txBody>
      </p:sp>
    </p:spTree>
    <p:extLst>
      <p:ext uri="{BB962C8B-B14F-4D97-AF65-F5344CB8AC3E}">
        <p14:creationId xmlns:p14="http://schemas.microsoft.com/office/powerpoint/2010/main" val="48383975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eyebrow-9">
            <a:extLst xmlns:a="http://schemas.openxmlformats.org/drawingml/2006/main">
              <a:ext uri="{FF2B5EF4-FFF2-40B4-BE49-F238E27FC236}">
                <a16:creationId xmlns:a16="http://schemas.microsoft.com/office/drawing/2014/main" id="{6B349826-45EE-41C8-9669-7AD960E0E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EXPANSIÓN OPERATIVA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63D39480-3BDF-4A94-8420-A184040F6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990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0D2944"/>
                </a:solidFill>
                <a:latin typeface="Georgia"/>
                <a:ea typeface="Georgia"/>
                <a:cs typeface="Georgia"/>
              </a:defRPr>
            </a:pPr>
            <a:r>
              <a:rPr sz="2250" b="1" i="0">
                <a:solidFill>
                  <a:srgbClr val="0D2944"/>
                </a:solidFill>
                <a:latin typeface="Georgia"/>
                <a:ea typeface="Georgia"/>
                <a:cs typeface="Georgia"/>
              </a:rPr>
              <a:t>Nueve puestos para habilitar control, análisis y disciplina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B6FD71-D437-4BA4-8083-FCC10CD63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8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3071EC-E7D7-45E2-8EA0-02751E6BB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BES v2.0 · Aprobado y liberado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BB6F3E-17C6-44FB-B5EB-6B1395253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524625"/>
            <a:ext cx="3009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Documento controlado · 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ECE42F-255C-4FBA-B5BE-AAA03F7FD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3486150" cy="12573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EE176B-2DB8-4DCC-963E-9B0874655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3486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8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3A9640-B0C0-4C68-8BEE-17AE4EA37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66900"/>
            <a:ext cx="2743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ROL 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B1E981-A2AA-492A-A1F1-23035FCFA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33600"/>
            <a:ext cx="3105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0D2944"/>
                </a:solidFill>
                <a:latin typeface="Georgia"/>
                <a:ea typeface="Georgia"/>
                <a:cs typeface="Georgia"/>
              </a:defRPr>
            </a:pPr>
            <a:r>
              <a:rPr sz="1500" b="1" i="0">
                <a:solidFill>
                  <a:srgbClr val="0D2944"/>
                </a:solidFill>
                <a:latin typeface="Georgia"/>
                <a:ea typeface="Georgia"/>
                <a:cs typeface="Georgia"/>
              </a:rPr>
              <a:t>Mesa de Control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55AD7F-F769-425B-A3B8-27760CA6D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90800"/>
            <a:ext cx="3105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Prioridades y conciliación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156DC1-763F-439F-9FD3-68385AD16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676400"/>
            <a:ext cx="3486150" cy="12573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089509-62FE-462D-B90D-C4E1D794B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676400"/>
            <a:ext cx="3486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8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B1D942-E3F6-4343-AB4F-842EA152C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2743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ROL 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D41B02-8D23-48E3-BEE1-1646535B3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133600"/>
            <a:ext cx="3105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0D2944"/>
                </a:solidFill>
                <a:latin typeface="Georgia"/>
                <a:ea typeface="Georgia"/>
                <a:cs typeface="Georgia"/>
              </a:defRPr>
            </a:pPr>
            <a:r>
              <a:rPr sz="1500" b="1" i="0">
                <a:solidFill>
                  <a:srgbClr val="0D2944"/>
                </a:solidFill>
                <a:latin typeface="Georgia"/>
                <a:ea typeface="Georgia"/>
                <a:cs typeface="Georgia"/>
              </a:rPr>
              <a:t>Analista Inbound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1723D2-90B6-456A-8FDF-921214AFB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590800"/>
            <a:ext cx="3105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Recepción y cierre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059BAF-D011-4112-A647-7187603FA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676400"/>
            <a:ext cx="3486150" cy="12573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8EB32C-481A-477B-B664-797C01491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676400"/>
            <a:ext cx="3486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8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61FC99-FC9D-46A3-BECF-705219AAE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866900"/>
            <a:ext cx="2743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ROL 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8F7A41-3FC9-4C45-81CD-6FB156975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133600"/>
            <a:ext cx="3105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0D2944"/>
                </a:solidFill>
                <a:latin typeface="Georgia"/>
                <a:ea typeface="Georgia"/>
                <a:cs typeface="Georgia"/>
              </a:defRPr>
            </a:pPr>
            <a:r>
              <a:rPr sz="1500" b="1" i="0">
                <a:solidFill>
                  <a:srgbClr val="0D2944"/>
                </a:solidFill>
                <a:latin typeface="Georgia"/>
                <a:ea typeface="Georgia"/>
                <a:cs typeface="Georgia"/>
              </a:rPr>
              <a:t>Analista Outbound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D9F005-17A8-4EEB-9827-87DEAD43A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90800"/>
            <a:ext cx="3105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Cumplimiento y salida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82A18E-31BF-4A42-A647-48A7722FE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3486150" cy="12573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BDAEF7-5E80-465A-9447-5F28B68B5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3486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FB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A71478-2433-4341-8A39-CD09E5392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33750"/>
            <a:ext cx="2743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2D6FB7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2D6FB7"/>
                </a:solidFill>
                <a:latin typeface="Aptos"/>
                <a:ea typeface="Aptos"/>
                <a:cs typeface="Aptos"/>
              </a:rPr>
              <a:t>ROL 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D5381BC-7B13-4955-B745-56526CC13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00450"/>
            <a:ext cx="3105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0D2944"/>
                </a:solidFill>
                <a:latin typeface="Georgia"/>
                <a:ea typeface="Georgia"/>
                <a:cs typeface="Georgia"/>
              </a:defRPr>
            </a:pPr>
            <a:r>
              <a:rPr sz="1500" b="1" i="0">
                <a:solidFill>
                  <a:srgbClr val="0D2944"/>
                </a:solidFill>
                <a:latin typeface="Georgia"/>
                <a:ea typeface="Georgia"/>
                <a:cs typeface="Georgia"/>
              </a:rPr>
              <a:t>Coordinador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AB19F5-B085-46D1-B5CA-890C6962F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3105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Capacidad y escalamiento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266428-D633-41F2-B4E5-428432C6E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143250"/>
            <a:ext cx="3486150" cy="12573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56C32FA-A377-44CD-934E-58C31653C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143250"/>
            <a:ext cx="3486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FB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650420D-616B-4378-AD1D-B5E581C49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333750"/>
            <a:ext cx="2743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2D6FB7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2D6FB7"/>
                </a:solidFill>
                <a:latin typeface="Aptos"/>
                <a:ea typeface="Aptos"/>
                <a:cs typeface="Aptos"/>
              </a:rPr>
              <a:t>ROL 05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6C59846-4B96-43DF-B114-E4B2FD630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600450"/>
            <a:ext cx="3105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0D2944"/>
                </a:solidFill>
                <a:latin typeface="Georgia"/>
                <a:ea typeface="Georgia"/>
                <a:cs typeface="Georgia"/>
              </a:defRPr>
            </a:pPr>
            <a:r>
              <a:rPr sz="1500" b="1" i="0">
                <a:solidFill>
                  <a:srgbClr val="0D2944"/>
                </a:solidFill>
                <a:latin typeface="Georgia"/>
                <a:ea typeface="Georgia"/>
                <a:cs typeface="Georgia"/>
              </a:rPr>
              <a:t>Montacarguista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4290F38-E304-4512-957E-C5E0C03AF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057650"/>
            <a:ext cx="3105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Movimiento seguro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58DB002-F0BB-47CC-A152-3C5502F7E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143250"/>
            <a:ext cx="3486150" cy="12573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6A4A8FD-BF2B-4D21-8DF5-8D835DB07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143250"/>
            <a:ext cx="3486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FB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13D225D-ADA5-436C-9A0C-1F20B2A5A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33750"/>
            <a:ext cx="2743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2D6FB7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2D6FB7"/>
                </a:solidFill>
                <a:latin typeface="Aptos"/>
                <a:ea typeface="Aptos"/>
                <a:cs typeface="Aptos"/>
              </a:rPr>
              <a:t>ROL 06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C60A586-A08C-4661-B274-FFA09D2B2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600450"/>
            <a:ext cx="3105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0D2944"/>
                </a:solidFill>
                <a:latin typeface="Georgia"/>
                <a:ea typeface="Georgia"/>
                <a:cs typeface="Georgia"/>
              </a:defRPr>
            </a:pPr>
            <a:r>
              <a:rPr sz="1500" b="1" i="0">
                <a:solidFill>
                  <a:srgbClr val="0D2944"/>
                </a:solidFill>
                <a:latin typeface="Georgia"/>
                <a:ea typeface="Georgia"/>
                <a:cs typeface="Georgia"/>
              </a:rPr>
              <a:t>Auxiliar Multifuncional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1722D12-3991-46BD-9EA5-A2A3CFC08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057650"/>
            <a:ext cx="3105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Ejecución estándar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D7B2BB1-1FD5-4000-8258-8316A480A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0100"/>
            <a:ext cx="3486150" cy="12573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73C9E9E-9240-40BC-8BED-B84A5C247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0100"/>
            <a:ext cx="3486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8A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F229112-EB1F-49D1-BEF3-030B8AFC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00600"/>
            <a:ext cx="2743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2C8A6D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2C8A6D"/>
                </a:solidFill>
                <a:latin typeface="Aptos"/>
                <a:ea typeface="Aptos"/>
                <a:cs typeface="Aptos"/>
              </a:rPr>
              <a:t>ROL 07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6CC6448-D63D-4E14-B560-BDDFE20B8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67300"/>
            <a:ext cx="3105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0D2944"/>
                </a:solidFill>
                <a:latin typeface="Georgia"/>
                <a:ea typeface="Georgia"/>
                <a:cs typeface="Georgia"/>
              </a:defRPr>
            </a:pPr>
            <a:r>
              <a:rPr sz="1500" b="1" i="0">
                <a:solidFill>
                  <a:srgbClr val="0D2944"/>
                </a:solidFill>
                <a:latin typeface="Georgia"/>
                <a:ea typeface="Georgia"/>
                <a:cs typeface="Georgia"/>
              </a:rPr>
              <a:t>Analista Inventarios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0772130-40AC-4C7A-847F-1B10F616B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524500"/>
            <a:ext cx="3105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Exactitud y ajustes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EE358CB-32F8-4D53-BDB1-30FD8DC6B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610100"/>
            <a:ext cx="3486150" cy="12573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A9CAA51-9CF7-4C4D-8CC3-E2B631053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610100"/>
            <a:ext cx="3486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8A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0FC22F0-10B2-4097-96F2-9AA1FF49E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800600"/>
            <a:ext cx="2743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2C8A6D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2C8A6D"/>
                </a:solidFill>
                <a:latin typeface="Aptos"/>
                <a:ea typeface="Aptos"/>
                <a:cs typeface="Aptos"/>
              </a:rPr>
              <a:t>ROL 08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D7AC0FB-A7DC-4E13-91D6-4EF8B2ABD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067300"/>
            <a:ext cx="3105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0D2944"/>
                </a:solidFill>
                <a:latin typeface="Georgia"/>
                <a:ea typeface="Georgia"/>
                <a:cs typeface="Georgia"/>
              </a:defRPr>
            </a:pPr>
            <a:r>
              <a:rPr sz="1500" b="1" i="0">
                <a:solidFill>
                  <a:srgbClr val="0D2944"/>
                </a:solidFill>
                <a:latin typeface="Georgia"/>
                <a:ea typeface="Georgia"/>
                <a:cs typeface="Georgia"/>
              </a:rPr>
              <a:t>Auditor Operaciones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8796674-7AAB-470C-9148-B6A61C0BF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524500"/>
            <a:ext cx="3105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Adherencia y hallazgos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0590BC1-B7D5-4F12-96BC-642668AB1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610100"/>
            <a:ext cx="3486150" cy="12573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0B90D5E-C60F-4B8B-A973-68CA9B34D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610100"/>
            <a:ext cx="3486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8A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0988C36-6395-465C-A8D7-ECC12BD62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00600"/>
            <a:ext cx="2743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2C8A6D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2C8A6D"/>
                </a:solidFill>
                <a:latin typeface="Aptos"/>
                <a:ea typeface="Aptos"/>
                <a:cs typeface="Aptos"/>
              </a:rPr>
              <a:t>ROL 09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8C12ED8-95A5-4AD5-A217-A1C465A40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067300"/>
            <a:ext cx="3105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0D2944"/>
                </a:solidFill>
                <a:latin typeface="Georgia"/>
                <a:ea typeface="Georgia"/>
                <a:cs typeface="Georgia"/>
              </a:defRPr>
            </a:pPr>
            <a:r>
              <a:rPr sz="1500" b="1" i="0">
                <a:solidFill>
                  <a:srgbClr val="0D2944"/>
                </a:solidFill>
                <a:latin typeface="Georgia"/>
                <a:ea typeface="Georgia"/>
                <a:cs typeface="Georgia"/>
              </a:rPr>
              <a:t>Auditor Calidad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6880B7B-A74F-431E-97CA-61D0DEF4D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524500"/>
            <a:ext cx="3105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Conformidad y CAPA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10A8064-68F1-4751-B60C-9AD54E2A2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153150"/>
            <a:ext cx="10248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0D2944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0D2944"/>
                </a:solidFill>
                <a:latin typeface="Aptos"/>
                <a:ea typeface="Aptos"/>
                <a:cs typeface="Aptos"/>
              </a:rPr>
              <a:t>Habilitación = perfil autorizado + capacitación + evaluación + acceso por rol + evidencia de competencia</a:t>
            </a:r>
          </a:p>
        </p:txBody>
      </p:sp>
    </p:spTree>
    <p:extLst>
      <p:ext uri="{BB962C8B-B14F-4D97-AF65-F5344CB8AC3E}">
        <p14:creationId xmlns:p14="http://schemas.microsoft.com/office/powerpoint/2010/main" val="43211470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eyebrow-10">
            <a:extLst xmlns:a="http://schemas.openxmlformats.org/drawingml/2006/main">
              <a:ext uri="{FF2B5EF4-FFF2-40B4-BE49-F238E27FC236}">
                <a16:creationId xmlns:a16="http://schemas.microsoft.com/office/drawing/2014/main" id="{5ACDF57E-6D48-4282-A0C1-27C5D29B4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ESTÁNDAR UNIVERSAL</a:t>
            </a:r>
          </a:p>
        </p:txBody>
      </p:sp>
      <p:sp>
        <p:nvSpPr>
          <p:cNvPr id="2" name="title-10">
            <a:extLst xmlns:a="http://schemas.openxmlformats.org/drawingml/2006/main">
              <a:ext uri="{FF2B5EF4-FFF2-40B4-BE49-F238E27FC236}">
                <a16:creationId xmlns:a16="http://schemas.microsoft.com/office/drawing/2014/main" id="{2E733EBB-B67F-4B04-B0FF-82C78F95E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990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0D2944"/>
                </a:solidFill>
                <a:latin typeface="Georgia"/>
                <a:ea typeface="Georgia"/>
                <a:cs typeface="Georgia"/>
              </a:defRPr>
            </a:pPr>
            <a:r>
              <a:rPr sz="2250" b="1" i="0">
                <a:solidFill>
                  <a:srgbClr val="0D2944"/>
                </a:solidFill>
                <a:latin typeface="Georgia"/>
                <a:ea typeface="Georgia"/>
                <a:cs typeface="Georgia"/>
              </a:rPr>
              <a:t>Cada documento nace controlado, trazable y auditable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D87E38-E74C-4DA8-9712-0CC3CD5A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8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A36083-EB7D-41BA-B825-20730BB69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BES v2.0 · Aprobado y liberado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0B2B7B-31C4-4CF9-982C-6C25958A5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524625"/>
            <a:ext cx="3009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Documento controlado ·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7EA105-8208-47B9-9203-858AB960E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876300"/>
          </a:xfrm>
          <a:prstGeom xmlns:a="http://schemas.openxmlformats.org/drawingml/2006/main" prst="roundRect">
            <a:avLst>
              <a:gd name="adj" fmla="val 19565"/>
            </a:avLst>
          </a:prstGeom>
          <a:solidFill xmlns:a="http://schemas.openxmlformats.org/drawingml/2006/main">
            <a:srgbClr val="0D2944"/>
          </a:solidFill>
          <a:ln xmlns:a="http://schemas.openxmlformats.org/drawingml/2006/main" w="9525">
            <a:solidFill>
              <a:srgbClr val="0D294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AEBFA2-3C64-4C98-A214-9A05C1AC7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85950"/>
            <a:ext cx="1036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195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BES-[Pilar##]-[Tipo]-[Consecutivo###]-v[Versión]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677106-D806-4278-B6CF-CA4090DBC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10363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D6B673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D6B673"/>
                </a:solidFill>
                <a:latin typeface="Aptos"/>
                <a:ea typeface="Aptos"/>
                <a:cs typeface="Aptos"/>
              </a:rPr>
              <a:t>Ejemplo: BES-03-PRO-001-v1.0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566029-AF47-4829-96FC-9AE250E0A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943100" cy="914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77D569-DF60-481E-9ABC-82C0CA099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194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BCFD1E-F98B-4389-863D-EB88C7242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4330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0D2944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0D2944"/>
                </a:solidFill>
                <a:latin typeface="Aptos"/>
                <a:ea typeface="Aptos"/>
                <a:cs typeface="Aptos"/>
              </a:rPr>
              <a:t>Portada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A07F80-FE02-4932-BE65-FDD5D0262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048000"/>
            <a:ext cx="1943100" cy="914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0C49F8-F268-4B92-B50F-88DD0B55C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2194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A63D60-DF23-4650-B4EA-E1EAFF95C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54330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0D2944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0D2944"/>
                </a:solidFill>
                <a:latin typeface="Aptos"/>
                <a:ea typeface="Aptos"/>
                <a:cs typeface="Aptos"/>
              </a:rPr>
              <a:t>Versiones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216969-EE89-4C7B-9FA0-1FF492DA9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048000"/>
            <a:ext cx="1943100" cy="914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5303CE-1409-4E79-B111-B9C212A90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2194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E3BBEE-AA32-4FB7-96FE-42FEABC37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54330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0D2944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0D2944"/>
                </a:solidFill>
                <a:latin typeface="Aptos"/>
                <a:ea typeface="Aptos"/>
                <a:cs typeface="Aptos"/>
              </a:rPr>
              <a:t>Objetivo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BBA7FF-397D-46B6-86F1-E98E47436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1943100" cy="914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375CFD-10BD-4A15-BAFE-0F2B44CEF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2194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657EEB-A022-4298-8171-13682F034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54330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0D2944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0D2944"/>
                </a:solidFill>
                <a:latin typeface="Aptos"/>
                <a:ea typeface="Aptos"/>
                <a:cs typeface="Aptos"/>
              </a:rPr>
              <a:t>Alcance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C15757-E8BF-4664-A18C-E1F9B4AA0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048000"/>
            <a:ext cx="1943100" cy="914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568B4E-FDD7-4546-BAB7-4057E30ED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2194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F4CAF9-629E-4DD8-B9C5-02197A6AE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54330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0D2944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0D2944"/>
                </a:solidFill>
                <a:latin typeface="Aptos"/>
                <a:ea typeface="Aptos"/>
                <a:cs typeface="Aptos"/>
              </a:rPr>
              <a:t>Glosario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D599E53-88CB-4326-A6D0-ADCA9362D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1943100" cy="914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B38A3D"/>
          </a:solidFill>
          <a:ln xmlns:a="http://schemas.openxmlformats.org/drawingml/2006/main" w="9525">
            <a:solidFill>
              <a:srgbClr val="B38A3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0E37FC-B1F9-42EE-AE2E-503D4E395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1960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CCB714-CFF5-4F7A-8046-668AB5DA6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4345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Desarrollo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D20D34C-CAF3-4B8B-AF28-70A1CC5B0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248150"/>
            <a:ext cx="1943100" cy="914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725991E-1E4B-4006-ABDD-112369A9C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41960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78ED2A7-C80D-4024-9F72-CFAF240B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74345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0D2944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0D2944"/>
                </a:solidFill>
                <a:latin typeface="Aptos"/>
                <a:ea typeface="Aptos"/>
                <a:cs typeface="Aptos"/>
              </a:rPr>
              <a:t>Arquitectura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C380314-9E10-4047-935F-D11BD093D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248150"/>
            <a:ext cx="1943100" cy="914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B7B67F8-4D1C-4DE5-AD8B-34D247020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41960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6AB84D9-775C-4E3D-92DF-336E7FD13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74345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0D2944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0D2944"/>
                </a:solidFill>
                <a:latin typeface="Aptos"/>
                <a:ea typeface="Aptos"/>
                <a:cs typeface="Aptos"/>
              </a:rPr>
              <a:t>RACI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4CE7BAA-8C59-4ADD-9BE7-0B0440510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248150"/>
            <a:ext cx="1943100" cy="914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7343AE9-B332-44DC-AB31-E57EB3148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41960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8430C3C-B93E-4D7F-ACB5-CE966A9CB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74345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0D2944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0D2944"/>
                </a:solidFill>
                <a:latin typeface="Aptos"/>
                <a:ea typeface="Aptos"/>
                <a:cs typeface="Aptos"/>
              </a:rPr>
              <a:t>Evidencias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A605EE9-417A-4F5E-B616-A81857DAF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248150"/>
            <a:ext cx="1943100" cy="914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B38A3D"/>
          </a:solidFill>
          <a:ln xmlns:a="http://schemas.openxmlformats.org/drawingml/2006/main" w="9525">
            <a:solidFill>
              <a:srgbClr val="B38A3D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DEF167A-2212-4DEA-BD9D-73F1D9DA5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41960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5EBAC1A-B63C-4CD9-AEFD-E704DFF30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74345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Firmas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8EEAA33-D6BC-4F3A-B8AB-4FB864CFF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5785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Encabezado: Pilar + Código + Versión   ·   Pie: Confidencialidad + Fecha + Paginación + Documento controlado</a:t>
            </a:r>
          </a:p>
        </p:txBody>
      </p:sp>
    </p:spTree>
    <p:extLst>
      <p:ext uri="{BB962C8B-B14F-4D97-AF65-F5344CB8AC3E}">
        <p14:creationId xmlns:p14="http://schemas.microsoft.com/office/powerpoint/2010/main" val="70342716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eyebrow-11">
            <a:extLst xmlns:a="http://schemas.openxmlformats.org/drawingml/2006/main">
              <a:ext uri="{FF2B5EF4-FFF2-40B4-BE49-F238E27FC236}">
                <a16:creationId xmlns:a16="http://schemas.microsoft.com/office/drawing/2014/main" id="{38F04B61-CDB3-43ED-8570-A6F5EA532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GOBIERNO Y ACCOUNTABILITY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1222B7A1-8C76-4E2C-BB20-9A191AAF9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990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0D2944"/>
                </a:solidFill>
                <a:latin typeface="Georgia"/>
                <a:ea typeface="Georgia"/>
                <a:cs typeface="Georgia"/>
              </a:defRPr>
            </a:pPr>
            <a:r>
              <a:rPr sz="2250" b="1" i="0">
                <a:solidFill>
                  <a:srgbClr val="0D2944"/>
                </a:solidFill>
                <a:latin typeface="Georgia"/>
                <a:ea typeface="Georgia"/>
                <a:cs typeface="Georgia"/>
              </a:rPr>
              <a:t>RACI convierte intención en autoridad y evidencia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63E35F-96EF-4B8A-BD4D-9BFA659D8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8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16594B-6D30-486D-83C8-4D2FCE004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BES v2.0 · Aprobado y liberado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00F55D-D620-4392-8C4F-1A5F85ADE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524625"/>
            <a:ext cx="3009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Documento controlado · 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C08CD1-B232-444B-92D6-5E7E7E30E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5257800" cy="110490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5E712E-87F8-43E0-9008-10D426DC8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47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0D2944"/>
                </a:solidFill>
                <a:latin typeface="Georgia"/>
                <a:ea typeface="Georgia"/>
                <a:cs typeface="Georgia"/>
              </a:defRPr>
            </a:pPr>
            <a:r>
              <a:rPr sz="1275" b="1" i="0">
                <a:solidFill>
                  <a:srgbClr val="0D2944"/>
                </a:solidFill>
                <a:latin typeface="Georgia"/>
                <a:ea typeface="Georgia"/>
                <a:cs typeface="Georgia"/>
              </a:rPr>
              <a:t>Aprobar arquitectura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2769AE-1BEC-44C9-8096-2CCAC7461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828800"/>
            <a:ext cx="1981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3B5F"/>
          </a:solidFill>
          <a:ln xmlns:a="http://schemas.openxmlformats.org/drawingml/2006/main" w="9525">
            <a:solidFill>
              <a:srgbClr val="173B5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CDBB22-F9E0-460B-8443-6F9AB5C5F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895475"/>
            <a:ext cx="1790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 · Dirección General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FDC6C0-1924-4476-976F-422A3DAFA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05050"/>
            <a:ext cx="481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Acta y versión aprobada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9C3FF6-ADCE-4319-9FAB-21CA78B41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676400"/>
            <a:ext cx="5257800" cy="110490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6FEF34-7E6C-4E28-9720-44749D243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847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0D2944"/>
                </a:solidFill>
                <a:latin typeface="Georgia"/>
                <a:ea typeface="Georgia"/>
                <a:cs typeface="Georgia"/>
              </a:defRPr>
            </a:pPr>
            <a:r>
              <a:rPr sz="1275" b="1" i="0">
                <a:solidFill>
                  <a:srgbClr val="0D2944"/>
                </a:solidFill>
                <a:latin typeface="Georgia"/>
                <a:ea typeface="Georgia"/>
                <a:cs typeface="Georgia"/>
              </a:rPr>
              <a:t>Mantener pilar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FE0A53-1054-4239-9706-B003F0C6A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28800"/>
            <a:ext cx="1981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3B5F"/>
          </a:solidFill>
          <a:ln xmlns:a="http://schemas.openxmlformats.org/drawingml/2006/main" w="9525">
            <a:solidFill>
              <a:srgbClr val="173B5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D9AD2B-3703-4903-AB5C-D038A8F4E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895475"/>
            <a:ext cx="1790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 · Gerencia responsable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033794-E504-4E50-A32D-DD78C91E4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305050"/>
            <a:ext cx="481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Mapa, índice y revisión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EBC7A3-697C-4BAF-8AB3-14F294C25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90850"/>
            <a:ext cx="5257800" cy="110490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634AD7-8EB9-4744-9B6B-1D9045336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623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0D2944"/>
                </a:solidFill>
                <a:latin typeface="Georgia"/>
                <a:ea typeface="Georgia"/>
                <a:cs typeface="Georgia"/>
              </a:defRPr>
            </a:pPr>
            <a:r>
              <a:rPr sz="1275" b="1" i="0">
                <a:solidFill>
                  <a:srgbClr val="0D2944"/>
                </a:solidFill>
                <a:latin typeface="Georgia"/>
                <a:ea typeface="Georgia"/>
                <a:cs typeface="Georgia"/>
              </a:rPr>
              <a:t>Liberar documento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87991B-B6FB-4AD2-B17D-0AB299184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143250"/>
            <a:ext cx="1981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3B5F"/>
          </a:solidFill>
          <a:ln xmlns:a="http://schemas.openxmlformats.org/drawingml/2006/main" w="9525">
            <a:solidFill>
              <a:srgbClr val="173B5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3ADD59-083E-4EF2-8892-59E30F716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209925"/>
            <a:ext cx="1790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 · Dueño del proceso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3168D4-4BD1-40BD-B42C-237D5081C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19500"/>
            <a:ext cx="481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Firmas e historial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53EEC2-93F4-4CFC-B79C-9DF1146EA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90850"/>
            <a:ext cx="5257800" cy="110490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D66A55-D5AA-4713-B353-A609FB36A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1623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0D2944"/>
                </a:solidFill>
                <a:latin typeface="Georgia"/>
                <a:ea typeface="Georgia"/>
                <a:cs typeface="Georgia"/>
              </a:defRPr>
            </a:pPr>
            <a:r>
              <a:rPr sz="1275" b="1" i="0">
                <a:solidFill>
                  <a:srgbClr val="0D2944"/>
                </a:solidFill>
                <a:latin typeface="Georgia"/>
                <a:ea typeface="Georgia"/>
                <a:cs typeface="Georgia"/>
              </a:rPr>
              <a:t>Gobernar dato maestro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932409-D18D-4DAF-8A41-23A699061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143250"/>
            <a:ext cx="1981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3B5F"/>
          </a:solidFill>
          <a:ln xmlns:a="http://schemas.openxmlformats.org/drawingml/2006/main" w="9525">
            <a:solidFill>
              <a:srgbClr val="173B5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88C341-9E49-49B9-8869-B5C47C07B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209925"/>
            <a:ext cx="1790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 · Gerencia del dato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ED2050-DD44-410A-8A1A-E45BF4573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619500"/>
            <a:ext cx="481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Bitácora y conciliación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1FF452-0BEE-4F30-B579-D451474D7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5257800" cy="110490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12525D-26D1-424B-9E80-9D1E148BF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76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0D2944"/>
                </a:solidFill>
                <a:latin typeface="Georgia"/>
                <a:ea typeface="Georgia"/>
                <a:cs typeface="Georgia"/>
              </a:defRPr>
            </a:pPr>
            <a:r>
              <a:rPr sz="1275" b="1" i="0">
                <a:solidFill>
                  <a:srgbClr val="0D2944"/>
                </a:solidFill>
                <a:latin typeface="Georgia"/>
                <a:ea typeface="Georgia"/>
                <a:cs typeface="Georgia"/>
              </a:rPr>
              <a:t>Habilitar puesto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851F7EA-CC73-47B1-8852-927E502F5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457700"/>
            <a:ext cx="1981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3B5F"/>
          </a:solidFill>
          <a:ln xmlns:a="http://schemas.openxmlformats.org/drawingml/2006/main" w="9525">
            <a:solidFill>
              <a:srgbClr val="173B5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9766D02-E412-4F6E-AB54-51714F502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24375"/>
            <a:ext cx="1790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 · Gerencia de Área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EA30D6E-2548-461A-8B9C-19BC9B9F1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33950"/>
            <a:ext cx="481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Perfil, examen y acceso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C69B8E8-6E14-4941-9335-E67942BBE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305300"/>
            <a:ext cx="5257800" cy="110490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743EC65-2CBD-4986-B431-B0012A7B4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476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0D2944"/>
                </a:solidFill>
                <a:latin typeface="Georgia"/>
                <a:ea typeface="Georgia"/>
                <a:cs typeface="Georgia"/>
              </a:defRPr>
            </a:pPr>
            <a:r>
              <a:rPr sz="1275" b="1" i="0">
                <a:solidFill>
                  <a:srgbClr val="0D2944"/>
                </a:solidFill>
                <a:latin typeface="Georgia"/>
                <a:ea typeface="Georgia"/>
                <a:cs typeface="Georgia"/>
              </a:rPr>
              <a:t>Cerrar hallazgo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EA09F1E-76B2-4F60-B818-1DFC3D705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457700"/>
            <a:ext cx="1981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3B5F"/>
          </a:solidFill>
          <a:ln xmlns:a="http://schemas.openxmlformats.org/drawingml/2006/main" w="9525">
            <a:solidFill>
              <a:srgbClr val="173B5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1FB04D1-4281-4EE9-B3B6-C68DEE344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524375"/>
            <a:ext cx="1790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 · Gerencia de Área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C737992-AC91-40CF-B1E5-A34621207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933950"/>
            <a:ext cx="481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Causa, acción y eficacia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E996048-6E71-44B9-8D0A-FED599B3B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829300"/>
            <a:ext cx="419100" cy="342900"/>
          </a:xfrm>
          <a:prstGeom xmlns:a="http://schemas.openxmlformats.org/drawingml/2006/main" prst="roundRect">
            <a:avLst>
              <a:gd name="adj" fmla="val 27778"/>
            </a:avLst>
          </a:prstGeom>
          <a:solidFill xmlns:a="http://schemas.openxmlformats.org/drawingml/2006/main">
            <a:srgbClr val="2D6FB7"/>
          </a:solidFill>
          <a:ln xmlns:a="http://schemas.openxmlformats.org/drawingml/2006/main" w="9525">
            <a:solidFill>
              <a:srgbClr val="2D6FB7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0205164-2524-4B8A-9D2B-C16A61921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915025"/>
            <a:ext cx="228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A0C7A76-4C00-435A-886B-7BE547B80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91502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Ejecuta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C459871-293D-42A6-BA20-1263CFBDF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5829300"/>
            <a:ext cx="419100" cy="342900"/>
          </a:xfrm>
          <a:prstGeom xmlns:a="http://schemas.openxmlformats.org/drawingml/2006/main" prst="roundRect">
            <a:avLst>
              <a:gd name="adj" fmla="val 27778"/>
            </a:avLst>
          </a:prstGeom>
          <a:solidFill xmlns:a="http://schemas.openxmlformats.org/drawingml/2006/main">
            <a:srgbClr val="B38A3D"/>
          </a:solidFill>
          <a:ln xmlns:a="http://schemas.openxmlformats.org/drawingml/2006/main" w="9525">
            <a:solidFill>
              <a:srgbClr val="B38A3D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FECEE7D-7144-4A60-AC16-FD2019955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5915025"/>
            <a:ext cx="228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95C57BF-DD48-479D-B2BD-A135E7740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591502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Responde por la decisión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C083A0A-6E0F-4E9F-BCD1-316412F78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829300"/>
            <a:ext cx="419100" cy="342900"/>
          </a:xfrm>
          <a:prstGeom xmlns:a="http://schemas.openxmlformats.org/drawingml/2006/main" prst="roundRect">
            <a:avLst>
              <a:gd name="adj" fmla="val 27778"/>
            </a:avLst>
          </a:prstGeom>
          <a:solidFill xmlns:a="http://schemas.openxmlformats.org/drawingml/2006/main">
            <a:srgbClr val="2C8A6D"/>
          </a:solidFill>
          <a:ln xmlns:a="http://schemas.openxmlformats.org/drawingml/2006/main" w="9525">
            <a:solidFill>
              <a:srgbClr val="2C8A6D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601E93E-DF71-479B-AE28-49156798A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915025"/>
            <a:ext cx="228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ACDF2B2-4BD5-4E7B-B834-16F425883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591502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Aporta criterio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65CE2B5-D5C4-4910-BF5D-1B38DA51C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5829300"/>
            <a:ext cx="419100" cy="342900"/>
          </a:xfrm>
          <a:prstGeom xmlns:a="http://schemas.openxmlformats.org/drawingml/2006/main" prst="roundRect">
            <a:avLst>
              <a:gd name="adj" fmla="val 27778"/>
            </a:avLst>
          </a:prstGeom>
          <a:solidFill xmlns:a="http://schemas.openxmlformats.org/drawingml/2006/main">
            <a:srgbClr val="244F76"/>
          </a:solidFill>
          <a:ln xmlns:a="http://schemas.openxmlformats.org/drawingml/2006/main" w="9525">
            <a:solidFill>
              <a:srgbClr val="244F76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9F8665C-114B-44BC-8CEA-B25CEB5A7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915025"/>
            <a:ext cx="228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269E459-A8E7-40A7-8CE3-2FF87B502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91502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Recibe información</a:t>
            </a:r>
          </a:p>
        </p:txBody>
      </p:sp>
    </p:spTree>
    <p:extLst>
      <p:ext uri="{BB962C8B-B14F-4D97-AF65-F5344CB8AC3E}">
        <p14:creationId xmlns:p14="http://schemas.microsoft.com/office/powerpoint/2010/main" val="55446454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eyebrow-12">
            <a:extLst xmlns:a="http://schemas.openxmlformats.org/drawingml/2006/main">
              <a:ext uri="{FF2B5EF4-FFF2-40B4-BE49-F238E27FC236}">
                <a16:creationId xmlns:a16="http://schemas.microsoft.com/office/drawing/2014/main" id="{918DA673-472E-4DFB-9906-0A272B37D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SISTEMA DE DESEMPEÑO</a:t>
            </a:r>
          </a:p>
        </p:txBody>
      </p:sp>
      <p:sp>
        <p:nvSpPr>
          <p:cNvPr id="2" name="title-12">
            <a:extLst xmlns:a="http://schemas.openxmlformats.org/drawingml/2006/main">
              <a:ext uri="{FF2B5EF4-FFF2-40B4-BE49-F238E27FC236}">
                <a16:creationId xmlns:a16="http://schemas.microsoft.com/office/drawing/2014/main" id="{13D04C10-520B-4C53-85E2-C2C666965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990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0D2944"/>
                </a:solidFill>
                <a:latin typeface="Georgia"/>
                <a:ea typeface="Georgia"/>
                <a:cs typeface="Georgia"/>
              </a:defRPr>
            </a:pPr>
            <a:r>
              <a:rPr sz="2250" b="1" i="0">
                <a:solidFill>
                  <a:srgbClr val="0D2944"/>
                </a:solidFill>
                <a:latin typeface="Georgia"/>
                <a:ea typeface="Georgia"/>
                <a:cs typeface="Georgia"/>
              </a:rPr>
              <a:t>Un tablero ejecutivo que mide resultado, causa y respuesta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613B8D-0D68-48F0-846E-7C5A5557D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8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334AF9-21F1-49A0-9695-F2C4E54E8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BES v2.0 · Aprobado y liberado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2CF178-44C5-4D33-B451-2B1318C13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524625"/>
            <a:ext cx="3009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Documento controlado · 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ACF1F8-A6FD-42C0-9649-0FE780942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3486150" cy="1562100"/>
          </a:xfrm>
          <a:prstGeom xmlns:a="http://schemas.openxmlformats.org/drawingml/2006/main" prst="roundRect">
            <a:avLst>
              <a:gd name="adj" fmla="val 109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F6054F-82BF-4AC1-AA6A-85FBE7B60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3486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FB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F0C2F8-5265-4C48-ADFB-E91982980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62150"/>
            <a:ext cx="3067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2D6FB7"/>
                </a:solidFill>
                <a:latin typeface="Georgia"/>
                <a:ea typeface="Georgia"/>
                <a:cs typeface="Georgia"/>
              </a:defRPr>
            </a:pPr>
            <a:r>
              <a:rPr sz="2400" b="1" i="0">
                <a:solidFill>
                  <a:srgbClr val="2D6FB7"/>
                </a:solidFill>
                <a:latin typeface="Georgia"/>
                <a:ea typeface="Georgia"/>
                <a:cs typeface="Georgia"/>
              </a:rPr>
              <a:t>≥ 98%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96D5C7-5C32-40BF-AEC1-16DBDA895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33650"/>
            <a:ext cx="3067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0D2944"/>
                </a:solidFill>
                <a:latin typeface="Aptos"/>
                <a:ea typeface="Aptos"/>
                <a:cs typeface="Aptos"/>
              </a:defRPr>
            </a:pPr>
            <a:r>
              <a:rPr sz="1275" b="1" i="0">
                <a:solidFill>
                  <a:srgbClr val="0D2944"/>
                </a:solidFill>
                <a:latin typeface="Aptos"/>
                <a:ea typeface="Aptos"/>
                <a:cs typeface="Aptos"/>
              </a:rPr>
              <a:t>On Time Shipping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607D91-0D2C-4CE9-B5AD-8CBB5AFFB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76550"/>
            <a:ext cx="1428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DE5D6"/>
          </a:solidFill>
          <a:ln xmlns:a="http://schemas.openxmlformats.org/drawingml/2006/main" w="9525">
            <a:solidFill>
              <a:srgbClr val="EDE5D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B3CF0A-2F2A-488A-9C4F-C045332CF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43225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 i="0">
                <a:solidFill>
                  <a:srgbClr val="0D2944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0D2944"/>
                </a:solidFill>
                <a:latin typeface="Aptos"/>
                <a:ea typeface="Aptos"/>
                <a:cs typeface="Aptos"/>
              </a:rPr>
              <a:t>DIARIA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D1007D-1CAE-44BE-9F32-CBCFE7EFE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695450"/>
            <a:ext cx="3486150" cy="1562100"/>
          </a:xfrm>
          <a:prstGeom xmlns:a="http://schemas.openxmlformats.org/drawingml/2006/main" prst="roundRect">
            <a:avLst>
              <a:gd name="adj" fmla="val 109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CB4038-008C-46FE-B170-1789EDD0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695450"/>
            <a:ext cx="3486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8A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7879F0-2418-44E1-927A-7386CEEF7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962150"/>
            <a:ext cx="3067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2C8A6D"/>
                </a:solidFill>
                <a:latin typeface="Georgia"/>
                <a:ea typeface="Georgia"/>
                <a:cs typeface="Georgia"/>
              </a:defRPr>
            </a:pPr>
            <a:r>
              <a:rPr sz="2400" b="1" i="0">
                <a:solidFill>
                  <a:srgbClr val="2C8A6D"/>
                </a:solidFill>
                <a:latin typeface="Georgia"/>
                <a:ea typeface="Georgia"/>
                <a:cs typeface="Georgia"/>
              </a:rPr>
              <a:t>≥ 98%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6E8DC2-7FCD-41A3-890B-3DE73F51D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533650"/>
            <a:ext cx="3067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0D2944"/>
                </a:solidFill>
                <a:latin typeface="Aptos"/>
                <a:ea typeface="Aptos"/>
                <a:cs typeface="Aptos"/>
              </a:defRPr>
            </a:pPr>
            <a:r>
              <a:rPr sz="1275" b="1" i="0">
                <a:solidFill>
                  <a:srgbClr val="0D2944"/>
                </a:solidFill>
                <a:latin typeface="Aptos"/>
                <a:ea typeface="Aptos"/>
                <a:cs typeface="Aptos"/>
              </a:rPr>
              <a:t>Fill Rate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F635F2-64A2-4193-916A-E8C69A544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876550"/>
            <a:ext cx="1428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DE5D6"/>
          </a:solidFill>
          <a:ln xmlns:a="http://schemas.openxmlformats.org/drawingml/2006/main" w="9525">
            <a:solidFill>
              <a:srgbClr val="EDE5D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1A4A9B-3EF3-427A-92FE-1B0635E76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943225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 i="0">
                <a:solidFill>
                  <a:srgbClr val="0D2944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0D2944"/>
                </a:solidFill>
                <a:latin typeface="Aptos"/>
                <a:ea typeface="Aptos"/>
                <a:cs typeface="Aptos"/>
              </a:rPr>
              <a:t>DIARIA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871DED-B83E-4FFA-B5B9-91E468185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695450"/>
            <a:ext cx="3486150" cy="1562100"/>
          </a:xfrm>
          <a:prstGeom xmlns:a="http://schemas.openxmlformats.org/drawingml/2006/main" prst="roundRect">
            <a:avLst>
              <a:gd name="adj" fmla="val 109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838554-6E6B-400E-A48E-1A0899E9F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695450"/>
            <a:ext cx="3486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8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4D09F3-33FA-4EE7-9486-0D70C9311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962150"/>
            <a:ext cx="3067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B38A3D"/>
                </a:solidFill>
                <a:latin typeface="Georgia"/>
                <a:ea typeface="Georgia"/>
                <a:cs typeface="Georgia"/>
              </a:defRPr>
            </a:pPr>
            <a:r>
              <a:rPr sz="2400" b="1" i="0">
                <a:solidFill>
                  <a:srgbClr val="B38A3D"/>
                </a:solidFill>
                <a:latin typeface="Georgia"/>
                <a:ea typeface="Georgia"/>
                <a:cs typeface="Georgia"/>
              </a:rPr>
              <a:t>≥ 99.5%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1949D8-B3E2-444D-A449-10A8B90B8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533650"/>
            <a:ext cx="3067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0D2944"/>
                </a:solidFill>
                <a:latin typeface="Aptos"/>
                <a:ea typeface="Aptos"/>
                <a:cs typeface="Aptos"/>
              </a:defRPr>
            </a:pPr>
            <a:r>
              <a:rPr sz="1275" b="1" i="0">
                <a:solidFill>
                  <a:srgbClr val="0D2944"/>
                </a:solidFill>
                <a:latin typeface="Aptos"/>
                <a:ea typeface="Aptos"/>
                <a:cs typeface="Aptos"/>
              </a:rPr>
              <a:t>Exactitud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E45659-DB93-47E4-A1BB-9FC236417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876550"/>
            <a:ext cx="1428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DE5D6"/>
          </a:solidFill>
          <a:ln xmlns:a="http://schemas.openxmlformats.org/drawingml/2006/main" w="9525">
            <a:solidFill>
              <a:srgbClr val="EDE5D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D03F7A-925D-49F3-821C-7D41E3A83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943225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 i="0">
                <a:solidFill>
                  <a:srgbClr val="0D2944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0D2944"/>
                </a:solidFill>
                <a:latin typeface="Aptos"/>
                <a:ea typeface="Aptos"/>
                <a:cs typeface="Aptos"/>
              </a:rPr>
              <a:t>SEMANAL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FE46308-A1A6-4407-9D99-C0A1F524E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05200"/>
            <a:ext cx="3486150" cy="1562100"/>
          </a:xfrm>
          <a:prstGeom xmlns:a="http://schemas.openxmlformats.org/drawingml/2006/main" prst="roundRect">
            <a:avLst>
              <a:gd name="adj" fmla="val 109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B966CB-75F9-41E6-966B-58C6DA158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05200"/>
            <a:ext cx="3486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8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9104882-BA96-43C2-8D76-D7C39B822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71900"/>
            <a:ext cx="3067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C78B2A"/>
                </a:solidFill>
                <a:latin typeface="Georgia"/>
                <a:ea typeface="Georgia"/>
                <a:cs typeface="Georgia"/>
              </a:defRPr>
            </a:pPr>
            <a:r>
              <a:rPr sz="2400" b="1" i="0">
                <a:solidFill>
                  <a:srgbClr val="C78B2A"/>
                </a:solidFill>
                <a:latin typeface="Georgia"/>
                <a:ea typeface="Georgia"/>
                <a:cs typeface="Georgia"/>
              </a:rPr>
              <a:t>≤ estándar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CAEA63B-577B-43DD-8B62-ACF34DCAA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43400"/>
            <a:ext cx="3067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0D2944"/>
                </a:solidFill>
                <a:latin typeface="Aptos"/>
                <a:ea typeface="Aptos"/>
                <a:cs typeface="Aptos"/>
              </a:defRPr>
            </a:pPr>
            <a:r>
              <a:rPr sz="1275" b="1" i="0">
                <a:solidFill>
                  <a:srgbClr val="0D2944"/>
                </a:solidFill>
                <a:latin typeface="Aptos"/>
                <a:ea typeface="Aptos"/>
                <a:cs typeface="Aptos"/>
              </a:rPr>
              <a:t>Dock-to-stock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C9325CC-6432-453D-9F6A-762427B32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86300"/>
            <a:ext cx="1428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DE5D6"/>
          </a:solidFill>
          <a:ln xmlns:a="http://schemas.openxmlformats.org/drawingml/2006/main" w="9525">
            <a:solidFill>
              <a:srgbClr val="EDE5D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D48E4A2-0E62-49A9-A7A7-62FB0D5CA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52975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 i="0">
                <a:solidFill>
                  <a:srgbClr val="0D2944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0D2944"/>
                </a:solidFill>
                <a:latin typeface="Aptos"/>
                <a:ea typeface="Aptos"/>
                <a:cs typeface="Aptos"/>
              </a:rPr>
              <a:t>POR RECEPCIÓN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968BC7-B7DF-4D3D-BADD-F4EFF54F5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505200"/>
            <a:ext cx="3486150" cy="1562100"/>
          </a:xfrm>
          <a:prstGeom xmlns:a="http://schemas.openxmlformats.org/drawingml/2006/main" prst="roundRect">
            <a:avLst>
              <a:gd name="adj" fmla="val 109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9F75670-0D78-4E89-AB17-98BA6FD91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505200"/>
            <a:ext cx="3486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4F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81D9E17-37DC-48A2-88C0-BFD3862BC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771900"/>
            <a:ext cx="3067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244F76"/>
                </a:solidFill>
                <a:latin typeface="Georgia"/>
                <a:ea typeface="Georgia"/>
                <a:cs typeface="Georgia"/>
              </a:defRPr>
            </a:pPr>
            <a:r>
              <a:rPr sz="2400" b="1" i="0">
                <a:solidFill>
                  <a:srgbClr val="244F76"/>
                </a:solidFill>
                <a:latin typeface="Georgia"/>
                <a:ea typeface="Georgia"/>
                <a:cs typeface="Georgia"/>
              </a:rPr>
              <a:t>100%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E649F31-0BFB-47CB-8AA6-9D004F58A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343400"/>
            <a:ext cx="3067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0D2944"/>
                </a:solidFill>
                <a:latin typeface="Aptos"/>
                <a:ea typeface="Aptos"/>
                <a:cs typeface="Aptos"/>
              </a:defRPr>
            </a:pPr>
            <a:r>
              <a:rPr sz="1275" b="1" i="0">
                <a:solidFill>
                  <a:srgbClr val="0D2944"/>
                </a:solidFill>
                <a:latin typeface="Aptos"/>
                <a:ea typeface="Aptos"/>
                <a:cs typeface="Aptos"/>
              </a:rPr>
              <a:t>Conciliación racks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E354E54-4BCA-480B-A45C-05E2F370D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686300"/>
            <a:ext cx="1428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DE5D6"/>
          </a:solidFill>
          <a:ln xmlns:a="http://schemas.openxmlformats.org/drawingml/2006/main" w="9525">
            <a:solidFill>
              <a:srgbClr val="EDE5D6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152DD25-50B7-4E78-9C8A-6DAEC331D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52975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 i="0">
                <a:solidFill>
                  <a:srgbClr val="0D2944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0D2944"/>
                </a:solidFill>
                <a:latin typeface="Aptos"/>
                <a:ea typeface="Aptos"/>
                <a:cs typeface="Aptos"/>
              </a:rPr>
              <a:t>DIARIA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45A0503-6620-411A-A45B-FCAFA2B8B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505200"/>
            <a:ext cx="3486150" cy="1562100"/>
          </a:xfrm>
          <a:prstGeom xmlns:a="http://schemas.openxmlformats.org/drawingml/2006/main" prst="roundRect">
            <a:avLst>
              <a:gd name="adj" fmla="val 109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C8375C3-A4C1-4ECE-9E6C-35A596225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505200"/>
            <a:ext cx="3486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4A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1CD2039-EBBE-4BCD-8562-7EE9131CC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771900"/>
            <a:ext cx="3067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B64A4A"/>
                </a:solidFill>
                <a:latin typeface="Georgia"/>
                <a:ea typeface="Georgia"/>
                <a:cs typeface="Georgia"/>
              </a:defRPr>
            </a:pPr>
            <a:r>
              <a:rPr sz="2400" b="1" i="0">
                <a:solidFill>
                  <a:srgbClr val="B64A4A"/>
                </a:solidFill>
                <a:latin typeface="Georgia"/>
                <a:ea typeface="Georgia"/>
                <a:cs typeface="Georgia"/>
              </a:rPr>
              <a:t>≥ 95%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595F231-CB7E-47E9-8C5C-2E096BBF9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343400"/>
            <a:ext cx="3067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0D2944"/>
                </a:solidFill>
                <a:latin typeface="Aptos"/>
                <a:ea typeface="Aptos"/>
                <a:cs typeface="Aptos"/>
              </a:defRPr>
            </a:pPr>
            <a:r>
              <a:rPr sz="1275" b="1" i="0">
                <a:solidFill>
                  <a:srgbClr val="0D2944"/>
                </a:solidFill>
                <a:latin typeface="Aptos"/>
                <a:ea typeface="Aptos"/>
                <a:cs typeface="Aptos"/>
              </a:rPr>
              <a:t>Cierre hallazgos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549DA6C-1CC0-47FB-AF66-A6064E2B8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686300"/>
            <a:ext cx="1428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DE5D6"/>
          </a:solidFill>
          <a:ln xmlns:a="http://schemas.openxmlformats.org/drawingml/2006/main" w="9525">
            <a:solidFill>
              <a:srgbClr val="EDE5D6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39EC9AE-1A50-4DCE-8D23-DB263BE73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752975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 i="0">
                <a:solidFill>
                  <a:srgbClr val="0D2944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0D2944"/>
                </a:solidFill>
                <a:latin typeface="Aptos"/>
                <a:ea typeface="Aptos"/>
                <a:cs typeface="Aptos"/>
              </a:rPr>
              <a:t>SEMANAL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7CE5EEA-AEFB-4AFD-A7FA-A71152427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2600"/>
            <a:ext cx="10972800" cy="666750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0D2944"/>
          </a:solidFill>
          <a:ln xmlns:a="http://schemas.openxmlformats.org/drawingml/2006/main" w="9525">
            <a:solidFill>
              <a:srgbClr val="0D2944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565E554-7011-4972-8BD9-526BDB757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72150"/>
            <a:ext cx="10439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Cadencia: equipo diario → gerencia semanal → Dirección mensual</a:t>
            </a:r>
          </a:p>
        </p:txBody>
      </p:sp>
    </p:spTree>
    <p:extLst>
      <p:ext uri="{BB962C8B-B14F-4D97-AF65-F5344CB8AC3E}">
        <p14:creationId xmlns:p14="http://schemas.microsoft.com/office/powerpoint/2010/main" val="186469934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eyebrow-13">
            <a:extLst xmlns:a="http://schemas.openxmlformats.org/drawingml/2006/main">
              <a:ext uri="{FF2B5EF4-FFF2-40B4-BE49-F238E27FC236}">
                <a16:creationId xmlns:a16="http://schemas.microsoft.com/office/drawing/2014/main" id="{E5EDFBC1-23A9-43D7-BA32-745CA6C7E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ROADMAP DE IMPLEMENTACIÓN</a:t>
            </a:r>
          </a:p>
        </p:txBody>
      </p:sp>
      <p:sp>
        <p:nvSpPr>
          <p:cNvPr id="2" name="title-13">
            <a:extLst xmlns:a="http://schemas.openxmlformats.org/drawingml/2006/main">
              <a:ext uri="{FF2B5EF4-FFF2-40B4-BE49-F238E27FC236}">
                <a16:creationId xmlns:a16="http://schemas.microsoft.com/office/drawing/2014/main" id="{B7EE899E-09E4-447E-9ACE-249BBA040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990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0D2944"/>
                </a:solidFill>
                <a:latin typeface="Georgia"/>
                <a:ea typeface="Georgia"/>
                <a:cs typeface="Georgia"/>
              </a:defRPr>
            </a:pPr>
            <a:r>
              <a:rPr sz="2250" b="1" i="0">
                <a:solidFill>
                  <a:srgbClr val="0D2944"/>
                </a:solidFill>
                <a:latin typeface="Georgia"/>
                <a:ea typeface="Georgia"/>
                <a:cs typeface="Georgia"/>
              </a:rPr>
              <a:t>Tres puertas de control para habilitar BES en 90 días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641BAA-5387-4CD2-91CB-BE7C9D59A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8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396F00-2574-41AA-9BC4-67E3ABFCA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24625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BES v2.0 · Aprobado y liberado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093FDD-375A-47A5-8662-D7ED8A733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524625"/>
            <a:ext cx="3009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Documento controlado · 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FFD511-56DD-44E8-B150-1D4BF0F4A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3486150" cy="3067050"/>
          </a:xfrm>
          <a:prstGeom xmlns:a="http://schemas.openxmlformats.org/drawingml/2006/main" prst="roundRect">
            <a:avLst>
              <a:gd name="adj" fmla="val 6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CA4BAD-5995-4A3D-A5EC-2F9475199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3486150" cy="838200"/>
          </a:xfrm>
          <a:prstGeom xmlns:a="http://schemas.openxmlformats.org/drawingml/2006/main" prst="roundRect">
            <a:avLst>
              <a:gd name="adj" fmla="val 22727"/>
            </a:avLst>
          </a:prstGeom>
          <a:solidFill xmlns:a="http://schemas.openxmlformats.org/drawingml/2006/main">
            <a:srgbClr val="B38A3D"/>
          </a:solidFill>
          <a:ln xmlns:a="http://schemas.openxmlformats.org/drawingml/2006/main" w="9525">
            <a:solidFill>
              <a:srgbClr val="B38A3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A2B4E1-00B3-4205-B71D-65C9FE172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24050"/>
            <a:ext cx="106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25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0–30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0E4559-4315-46B9-9F8F-3A109E977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0193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GOBIERNO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F8BA91-21BD-4F5E-8EC7-CD96450B0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57500"/>
            <a:ext cx="30289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Formalizar dueños, RACI, índice y backlog; activar cadencia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79B480-8D8A-43F7-91CF-7D4D77C94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43350"/>
            <a:ext cx="3028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1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27F759-CF55-4674-AF66-50624EB4C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14800"/>
            <a:ext cx="3028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B38A3D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B38A3D"/>
                </a:solidFill>
                <a:latin typeface="Aptos"/>
                <a:ea typeface="Aptos"/>
                <a:cs typeface="Aptos"/>
              </a:rPr>
              <a:t>PUERTA 1 · RESPONSABLES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50A441-BDCF-40D9-994F-3D8CC7D24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62450"/>
            <a:ext cx="3028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Dirección confirma responsables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6C481C-0681-4344-8A28-165195BD1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714500"/>
            <a:ext cx="3486150" cy="3067050"/>
          </a:xfrm>
          <a:prstGeom xmlns:a="http://schemas.openxmlformats.org/drawingml/2006/main" prst="roundRect">
            <a:avLst>
              <a:gd name="adj" fmla="val 6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250F7D-8B64-49F4-864F-3C48770CE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714500"/>
            <a:ext cx="3486150" cy="838200"/>
          </a:xfrm>
          <a:prstGeom xmlns:a="http://schemas.openxmlformats.org/drawingml/2006/main" prst="roundRect">
            <a:avLst>
              <a:gd name="adj" fmla="val 22727"/>
            </a:avLst>
          </a:prstGeom>
          <a:solidFill xmlns:a="http://schemas.openxmlformats.org/drawingml/2006/main">
            <a:srgbClr val="2D6FB7"/>
          </a:solidFill>
          <a:ln xmlns:a="http://schemas.openxmlformats.org/drawingml/2006/main" w="9525">
            <a:solidFill>
              <a:srgbClr val="2D6FB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63459F-E8CB-4DBC-9AAA-69752BE75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924050"/>
            <a:ext cx="106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25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31–60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98816E-4CD7-4890-96C5-4B4B9E968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193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CONTROL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C30E09-E774-4837-AAD6-D174A6493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30289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Liberar SOP/WI, matriz Odoo-RACKS, tableros y formación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13C28E-7C28-4080-8A63-A0022BDF8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943350"/>
            <a:ext cx="3028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1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5C7DD6-DE38-4200-9584-A0FEAC131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114800"/>
            <a:ext cx="3028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2D6FB7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2D6FB7"/>
                </a:solidFill>
                <a:latin typeface="Aptos"/>
                <a:ea typeface="Aptos"/>
                <a:cs typeface="Aptos"/>
              </a:rPr>
              <a:t>PUERTA 2 · EVIDENCIA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E3844F-6E5F-4504-A0A8-0922DDFEB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362450"/>
            <a:ext cx="3028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Gerencias validan evidencia y capacidad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17F02F-5C62-41C3-9758-56F5BC199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714500"/>
            <a:ext cx="3486150" cy="3067050"/>
          </a:xfrm>
          <a:prstGeom xmlns:a="http://schemas.openxmlformats.org/drawingml/2006/main" prst="roundRect">
            <a:avLst>
              <a:gd name="adj" fmla="val 6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1C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9BACA5-D36A-417B-AF63-7D71256E1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714500"/>
            <a:ext cx="3486150" cy="838200"/>
          </a:xfrm>
          <a:prstGeom xmlns:a="http://schemas.openxmlformats.org/drawingml/2006/main" prst="roundRect">
            <a:avLst>
              <a:gd name="adj" fmla="val 22727"/>
            </a:avLst>
          </a:prstGeom>
          <a:solidFill xmlns:a="http://schemas.openxmlformats.org/drawingml/2006/main">
            <a:srgbClr val="2C8A6D"/>
          </a:solidFill>
          <a:ln xmlns:a="http://schemas.openxmlformats.org/drawingml/2006/main" w="9525">
            <a:solidFill>
              <a:srgbClr val="2C8A6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8AFFFD-B3C3-4292-B9BF-C49BAECF3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924050"/>
            <a:ext cx="106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25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61–90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12723F-A897-4047-87EC-EF51BE9F7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0193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ESCALA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F5283DE-80C2-45CF-B444-52F94E6DA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857500"/>
            <a:ext cx="30289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0243A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10243A"/>
                </a:solidFill>
                <a:latin typeface="Aptos"/>
                <a:ea typeface="Aptos"/>
                <a:cs typeface="Aptos"/>
              </a:rPr>
              <a:t>Auditar, cerrar brechas, certificar y estandarizar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CE0B256-EE79-4F13-B9CD-348396B30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943350"/>
            <a:ext cx="3028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1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F0DEECD-9E0E-49A7-A6E8-071103825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114800"/>
            <a:ext cx="3028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2C8A6D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2C8A6D"/>
                </a:solidFill>
                <a:latin typeface="Aptos"/>
                <a:ea typeface="Aptos"/>
                <a:cs typeface="Aptos"/>
              </a:rPr>
              <a:t>PUERTA 3 · ESCALA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4B3D84-B6FC-4680-ACC7-7B0F54A4B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362450"/>
            <a:ext cx="3028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57487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657487"/>
                </a:solidFill>
                <a:latin typeface="Aptos"/>
                <a:ea typeface="Aptos"/>
                <a:cs typeface="Aptos"/>
              </a:rPr>
              <a:t>Dirección autoriza la siguiente ola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6FB982B-59F1-4DF9-A042-0AAE14275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1009650"/>
          </a:xfrm>
          <a:prstGeom xmlns:a="http://schemas.openxmlformats.org/drawingml/2006/main" prst="roundRect">
            <a:avLst>
              <a:gd name="adj" fmla="val 16981"/>
            </a:avLst>
          </a:prstGeom>
          <a:solidFill xmlns:a="http://schemas.openxmlformats.org/drawingml/2006/main">
            <a:srgbClr val="0D2944"/>
          </a:solidFill>
          <a:ln xmlns:a="http://schemas.openxmlformats.org/drawingml/2006/main" w="9525">
            <a:solidFill>
              <a:srgbClr val="0D294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1E84FA3-454D-4CF7-807E-DAF027278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448300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D6B673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D6B673"/>
                </a:solidFill>
                <a:latin typeface="Aptos"/>
                <a:ea typeface="Aptos"/>
                <a:cs typeface="Aptos"/>
              </a:rPr>
              <a:t>DECISIÓN REGISTRADA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3EFA86F-6C1B-4BF6-879D-A0DC73BE7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753100"/>
            <a:ext cx="981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15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BES v2.0 aprobado y liberado; inicia la designación de propietarios y la ola 0–30 días.</a:t>
            </a:r>
          </a:p>
        </p:txBody>
      </p:sp>
    </p:spTree>
    <p:extLst>
      <p:ext uri="{BB962C8B-B14F-4D97-AF65-F5344CB8AC3E}">
        <p14:creationId xmlns:p14="http://schemas.microsoft.com/office/powerpoint/2010/main" val="177236257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D294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0a7f2fb00a4c01"/>
          <a:srcRect xmlns:a="http://schemas.openxmlformats.org/drawingml/2006/main" l="0" t="7867" r="0" b="78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542925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F81A99-2068-4C64-83C2-D53DCEE80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0"/>
            <a:ext cx="7048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944"/>
          </a:solidFill>
          <a:ln xmlns:a="http://schemas.openxmlformats.org/drawingml/2006/main" w="9525">
            <a:solidFill>
              <a:srgbClr val="0D294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9A4D68-1444-42A8-8354-D5B11C49D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628650"/>
            <a:ext cx="1809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38A3D"/>
          </a:solidFill>
          <a:ln xmlns:a="http://schemas.openxmlformats.org/drawingml/2006/main" w="9525">
            <a:solidFill>
              <a:srgbClr val="B38A3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553A26-1645-4A90-B517-6EB443BC3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695325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CIERRE EJECUTIVO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19E3B0-A6DC-4C49-A029-0BE18827A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428750"/>
            <a:ext cx="542925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871"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0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La arquitectura está aprobada.</a:t>
            </a:r>
          </a:p>
          <a:p xmlns:a="http://schemas.openxmlformats.org/drawingml/2006/main">
            <a:pPr algn="l">
              <a:defRPr sz="300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0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La siguiente acción es ejecutarla.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C08283-ECDE-4C2D-BE5C-E83C3ACDB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219450"/>
            <a:ext cx="41910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B38A3D"/>
          </a:solidFill>
          <a:ln xmlns:a="http://schemas.openxmlformats.org/drawingml/2006/main" w="9525">
            <a:solidFill>
              <a:srgbClr val="B38A3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E3F9E3-AF82-4805-A270-194373374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24225"/>
            <a:ext cx="19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3FF78A-EE84-48AB-B93F-12DBF3841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305175"/>
            <a:ext cx="4610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D7E2EC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D7E2EC"/>
                </a:solidFill>
                <a:latin typeface="Aptos"/>
                <a:ea typeface="Aptos"/>
                <a:cs typeface="Aptos"/>
              </a:rPr>
              <a:t>Formalizar propietarios de los 14 pilares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E61B0E-0B52-467A-BD07-9301687FC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924300"/>
            <a:ext cx="41910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B38A3D"/>
          </a:solidFill>
          <a:ln xmlns:a="http://schemas.openxmlformats.org/drawingml/2006/main" w="9525">
            <a:solidFill>
              <a:srgbClr val="B38A3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222AAB-B14F-41ED-87C8-1E8F9190C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029075"/>
            <a:ext cx="19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9DDA3B-6C7F-4BCC-A44D-3BBA69F6F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10025"/>
            <a:ext cx="4610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D7E2EC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D7E2EC"/>
                </a:solidFill>
                <a:latin typeface="Aptos"/>
                <a:ea typeface="Aptos"/>
                <a:cs typeface="Aptos"/>
              </a:rPr>
              <a:t>Iniciar gobierno 0–30 días y revisión mensual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319888-310F-4ACA-85E2-424C52E70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629150"/>
            <a:ext cx="41910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B38A3D"/>
          </a:solidFill>
          <a:ln xmlns:a="http://schemas.openxmlformats.org/drawingml/2006/main" w="9525">
            <a:solidFill>
              <a:srgbClr val="B38A3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A636D7-A0D2-4B65-BC97-865DA108B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733925"/>
            <a:ext cx="19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20E4BB-D6D4-4197-80E4-66868555D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714875"/>
            <a:ext cx="4610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D7E2EC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D7E2EC"/>
                </a:solidFill>
                <a:latin typeface="Aptos"/>
                <a:ea typeface="Aptos"/>
                <a:cs typeface="Aptos"/>
              </a:rPr>
              <a:t>Medir avance, evidencia y cierre de brechas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DDCC29-2590-4A9B-B79B-D3DE832F8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581650"/>
            <a:ext cx="91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8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8B63A5-D792-4207-B624-19F8D536F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772150"/>
            <a:ext cx="5429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1">
                <a:solidFill>
                  <a:srgbClr val="D6B673"/>
                </a:solidFill>
                <a:latin typeface="Georgia"/>
                <a:ea typeface="Georgia"/>
                <a:cs typeface="Georgia"/>
              </a:defRPr>
            </a:pPr>
            <a:r>
              <a:rPr sz="1500" b="1" i="1">
                <a:solidFill>
                  <a:srgbClr val="D6B673"/>
                </a:solidFill>
                <a:latin typeface="Georgia"/>
                <a:ea typeface="Georgia"/>
                <a:cs typeface="Georgia"/>
              </a:rPr>
              <a:t>Los procesos construyen resultados;</a:t>
            </a:r>
          </a:p>
          <a:p xmlns:a="http://schemas.openxmlformats.org/drawingml/2006/main">
            <a:pPr algn="l">
              <a:defRPr sz="1500" b="1" i="1">
                <a:solidFill>
                  <a:srgbClr val="D6B673"/>
                </a:solidFill>
                <a:latin typeface="Georgia"/>
                <a:ea typeface="Georgia"/>
                <a:cs typeface="Georgia"/>
              </a:defRPr>
            </a:pPr>
            <a:r>
              <a:rPr sz="1500" b="1" i="1">
                <a:solidFill>
                  <a:srgbClr val="D6B673"/>
                </a:solidFill>
                <a:latin typeface="Georgia"/>
                <a:ea typeface="Georgia"/>
                <a:cs typeface="Georgia"/>
              </a:rPr>
              <a:t>las personas construyen el futuro.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FB8DC1-71C4-4BA9-BE82-02F9E326A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6496050"/>
            <a:ext cx="542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AFC0D0"/>
                </a:solidFill>
                <a:latin typeface="Aptos"/>
                <a:ea typeface="Aptos"/>
                <a:cs typeface="Aptos"/>
              </a:defRPr>
            </a:pPr>
            <a:r>
              <a:rPr sz="750" b="1" i="0">
                <a:solidFill>
                  <a:srgbClr val="AFC0D0"/>
                </a:solidFill>
                <a:latin typeface="Aptos"/>
                <a:ea typeface="Aptos"/>
                <a:cs typeface="Aptos"/>
              </a:rPr>
              <a:t>BLOS ENTERPRISE SYSTEM · BEST LINEN</a:t>
            </a:r>
          </a:p>
        </p:txBody>
      </p:sp>
    </p:spTree>
    <p:extLst>
      <p:ext uri="{BB962C8B-B14F-4D97-AF65-F5344CB8AC3E}">
        <p14:creationId xmlns:p14="http://schemas.microsoft.com/office/powerpoint/2010/main" val="56639751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2026-08-11T08:53:54.7860000Z</dcterms:created>
  <dcterms:modified xsi:type="dcterms:W3CDTF">2026-08-11T08:53:54.7860000Z</dcterms:modified>
</coreProperties>
</file>